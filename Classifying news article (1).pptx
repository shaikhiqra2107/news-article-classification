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Lobster"/>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DpDRcpPJx0u0zwcbOAkq/m/6P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Lobster-regular.fntdata"/><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02f1b9eea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02f1b9eea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a02f1b9eea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02f1b9eea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02f1b9eea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a02f1b9eea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02f1b9eea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02f1b9eea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a02f1b9eea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02f1b9eea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02f1b9eea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a02f1b9eea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02f1b9eea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02f1b9eea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a02f1b9eea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02f1b9eea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02f1b9eea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a02f1b9eea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02f1b9eea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02f1b9eea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a02f1b9eea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02f1b9eea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02f1b9eea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a02f1b9eea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02f1b9eea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02f1b9eea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a02f1b9eea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02f1b9eea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02f1b9eea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a02f1b9eea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02f1b9eea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02f1b9eea_0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a02f1b9eea_0_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02f1b9eea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02f1b9eea_0_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a02f1b9eea_0_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02f1b9eea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02f1b9eea_0_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a02f1b9eea_0_8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02f1b9eea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02f1b9eea_0_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a02f1b9eea_0_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02f1b9eea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02f1b9eea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a02f1b9eea_0_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grpSp>
        <p:nvGrpSpPr>
          <p:cNvPr id="15" name="Google Shape;15;p10"/>
          <p:cNvGrpSpPr/>
          <p:nvPr/>
        </p:nvGrpSpPr>
        <p:grpSpPr>
          <a:xfrm>
            <a:off x="-21770" y="0"/>
            <a:ext cx="12213771" cy="6858000"/>
            <a:chOff x="-21770" y="0"/>
            <a:chExt cx="12213771" cy="6858000"/>
          </a:xfrm>
        </p:grpSpPr>
        <p:pic>
          <p:nvPicPr>
            <p:cNvPr descr="Tech Background&quot; Images – Browse 8,227 Stock Photos, Vectors, and Video |  Adobe Stock" id="16" name="Google Shape;16;p10"/>
            <p:cNvPicPr preferRelativeResize="0"/>
            <p:nvPr/>
          </p:nvPicPr>
          <p:blipFill rotWithShape="1">
            <a:blip r:embed="rId2">
              <a:alphaModFix/>
            </a:blip>
            <a:srcRect b="1249" l="2352" r="1953" t="2332"/>
            <a:stretch/>
          </p:blipFill>
          <p:spPr>
            <a:xfrm>
              <a:off x="-21770" y="0"/>
              <a:ext cx="12213771" cy="6858000"/>
            </a:xfrm>
            <a:custGeom>
              <a:rect b="b" l="l" r="r" t="t"/>
              <a:pathLst>
                <a:path extrusionOk="0" h="6858000" w="12213771">
                  <a:moveTo>
                    <a:pt x="0" y="0"/>
                  </a:moveTo>
                  <a:lnTo>
                    <a:pt x="12213771" y="0"/>
                  </a:lnTo>
                  <a:lnTo>
                    <a:pt x="12213771" y="6858000"/>
                  </a:lnTo>
                  <a:lnTo>
                    <a:pt x="0" y="6858000"/>
                  </a:lnTo>
                  <a:close/>
                </a:path>
              </a:pathLst>
            </a:custGeom>
            <a:noFill/>
            <a:ln>
              <a:noFill/>
            </a:ln>
          </p:spPr>
        </p:pic>
        <p:pic>
          <p:nvPicPr>
            <p:cNvPr id="17" name="Google Shape;17;p10"/>
            <p:cNvPicPr preferRelativeResize="0"/>
            <p:nvPr/>
          </p:nvPicPr>
          <p:blipFill rotWithShape="1">
            <a:blip r:embed="rId3">
              <a:alphaModFix/>
            </a:blip>
            <a:srcRect b="0" l="0" r="0" t="0"/>
            <a:stretch/>
          </p:blipFill>
          <p:spPr>
            <a:xfrm>
              <a:off x="4017794" y="913775"/>
              <a:ext cx="5159490" cy="1423752"/>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1"/>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1"/>
          <p:cNvSpPr txBox="1"/>
          <p:nvPr>
            <p:ph idx="1" type="body"/>
          </p:nvPr>
        </p:nvSpPr>
        <p:spPr>
          <a:xfrm>
            <a:off x="678884" y="1675075"/>
            <a:ext cx="10834234"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mp; Half">
  <p:cSld name="Half &amp; Half">
    <p:spTree>
      <p:nvGrpSpPr>
        <p:cNvPr id="21" name="Shape 21"/>
        <p:cNvGrpSpPr/>
        <p:nvPr/>
      </p:nvGrpSpPr>
      <p:grpSpPr>
        <a:xfrm>
          <a:off x="0" y="0"/>
          <a:ext cx="0" cy="0"/>
          <a:chOff x="0" y="0"/>
          <a:chExt cx="0" cy="0"/>
        </a:xfrm>
      </p:grpSpPr>
      <p:sp>
        <p:nvSpPr>
          <p:cNvPr id="22" name="Google Shape;22;p12"/>
          <p:cNvSpPr txBox="1"/>
          <p:nvPr>
            <p:ph type="title"/>
          </p:nvPr>
        </p:nvSpPr>
        <p:spPr>
          <a:xfrm>
            <a:off x="678881" y="603665"/>
            <a:ext cx="5107239"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678881" y="1659836"/>
            <a:ext cx="5107239"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2"/>
          <p:cNvSpPr/>
          <p:nvPr/>
        </p:nvSpPr>
        <p:spPr>
          <a:xfrm>
            <a:off x="6096000" y="0"/>
            <a:ext cx="60960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5" name="Google Shape;25;p12"/>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Flow Errow">
  <p:cSld name="One Third Flow Errow">
    <p:spTree>
      <p:nvGrpSpPr>
        <p:cNvPr id="26" name="Shape 26"/>
        <p:cNvGrpSpPr/>
        <p:nvPr/>
      </p:nvGrpSpPr>
      <p:grpSpPr>
        <a:xfrm>
          <a:off x="0" y="0"/>
          <a:ext cx="0" cy="0"/>
          <a:chOff x="0" y="0"/>
          <a:chExt cx="0" cy="0"/>
        </a:xfrm>
      </p:grpSpPr>
      <p:sp>
        <p:nvSpPr>
          <p:cNvPr id="27" name="Google Shape;27;p13"/>
          <p:cNvSpPr txBox="1"/>
          <p:nvPr>
            <p:ph type="title"/>
          </p:nvPr>
        </p:nvSpPr>
        <p:spPr>
          <a:xfrm>
            <a:off x="4455269" y="603666"/>
            <a:ext cx="7057847"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3"/>
          <p:cNvSpPr txBox="1"/>
          <p:nvPr>
            <p:ph idx="1" type="body"/>
          </p:nvPr>
        </p:nvSpPr>
        <p:spPr>
          <a:xfrm>
            <a:off x="4455269" y="1659835"/>
            <a:ext cx="7057847"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3"/>
          <p:cNvSpPr/>
          <p:nvPr/>
        </p:nvSpPr>
        <p:spPr>
          <a:xfrm>
            <a:off x="1" y="0"/>
            <a:ext cx="4114800" cy="6858000"/>
          </a:xfrm>
          <a:prstGeom prst="homePlate">
            <a:avLst>
              <a:gd fmla="val 16049" name="adj"/>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 name="Google Shape;30;p13"/>
          <p:cNvSpPr txBox="1"/>
          <p:nvPr/>
        </p:nvSpPr>
        <p:spPr>
          <a:xfrm>
            <a:off x="678882" y="3122614"/>
            <a:ext cx="2978720"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400"/>
              <a:buFont typeface="Calibri"/>
              <a:buNone/>
            </a:pPr>
            <a:r>
              <a:rPr b="1" lang="en-US" sz="3400">
                <a:solidFill>
                  <a:schemeClr val="lt1"/>
                </a:solidFill>
                <a:latin typeface="Calibri"/>
                <a:ea typeface="Calibri"/>
                <a:cs typeface="Calibri"/>
                <a:sym typeface="Calibri"/>
              </a:rPr>
              <a:t>Click to edit Master title style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1" name="Shape 31"/>
        <p:cNvGrpSpPr/>
        <p:nvPr/>
      </p:nvGrpSpPr>
      <p:grpSpPr>
        <a:xfrm>
          <a:off x="0" y="0"/>
          <a:ext cx="0" cy="0"/>
          <a:chOff x="0" y="0"/>
          <a:chExt cx="0" cy="0"/>
        </a:xfrm>
      </p:grpSpPr>
      <p:sp>
        <p:nvSpPr>
          <p:cNvPr id="32" name="Google Shape;32;p14"/>
          <p:cNvSpPr txBox="1"/>
          <p:nvPr>
            <p:ph type="title"/>
          </p:nvPr>
        </p:nvSpPr>
        <p:spPr>
          <a:xfrm>
            <a:off x="678883" y="1709738"/>
            <a:ext cx="10834234" cy="2852737"/>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 type="body"/>
          </p:nvPr>
        </p:nvSpPr>
        <p:spPr>
          <a:xfrm>
            <a:off x="678883" y="4589464"/>
            <a:ext cx="10834234"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98990"/>
              </a:buClr>
              <a:buSzPts val="2400"/>
              <a:buNone/>
              <a:defRPr sz="2400">
                <a:solidFill>
                  <a:srgbClr val="898990"/>
                </a:solidFill>
              </a:defRPr>
            </a:lvl1pPr>
            <a:lvl2pPr indent="-228600" lvl="1" marL="914400" algn="l">
              <a:lnSpc>
                <a:spcPct val="90000"/>
              </a:lnSpc>
              <a:spcBef>
                <a:spcPts val="500"/>
              </a:spcBef>
              <a:spcAft>
                <a:spcPts val="0"/>
              </a:spcAft>
              <a:buClr>
                <a:srgbClr val="898990"/>
              </a:buClr>
              <a:buSzPts val="2000"/>
              <a:buNone/>
              <a:defRPr sz="2000">
                <a:solidFill>
                  <a:srgbClr val="898990"/>
                </a:solidFill>
              </a:defRPr>
            </a:lvl2pPr>
            <a:lvl3pPr indent="-228600" lvl="2" marL="1371600" algn="l">
              <a:lnSpc>
                <a:spcPct val="90000"/>
              </a:lnSpc>
              <a:spcBef>
                <a:spcPts val="500"/>
              </a:spcBef>
              <a:spcAft>
                <a:spcPts val="0"/>
              </a:spcAft>
              <a:buClr>
                <a:srgbClr val="898990"/>
              </a:buClr>
              <a:buSzPts val="1800"/>
              <a:buNone/>
              <a:defRPr sz="1800">
                <a:solidFill>
                  <a:srgbClr val="898990"/>
                </a:solidFill>
              </a:defRPr>
            </a:lvl3pPr>
            <a:lvl4pPr indent="-228600" lvl="3" marL="1828800" algn="l">
              <a:lnSpc>
                <a:spcPct val="90000"/>
              </a:lnSpc>
              <a:spcBef>
                <a:spcPts val="500"/>
              </a:spcBef>
              <a:spcAft>
                <a:spcPts val="0"/>
              </a:spcAft>
              <a:buClr>
                <a:srgbClr val="898990"/>
              </a:buClr>
              <a:buSzPts val="1600"/>
              <a:buNone/>
              <a:defRPr sz="1600">
                <a:solidFill>
                  <a:srgbClr val="898990"/>
                </a:solidFill>
              </a:defRPr>
            </a:lvl4pPr>
            <a:lvl5pPr indent="-228600" lvl="4" marL="2286000" algn="l">
              <a:lnSpc>
                <a:spcPct val="90000"/>
              </a:lnSpc>
              <a:spcBef>
                <a:spcPts val="500"/>
              </a:spcBef>
              <a:spcAft>
                <a:spcPts val="0"/>
              </a:spcAft>
              <a:buClr>
                <a:srgbClr val="898990"/>
              </a:buClr>
              <a:buSzPts val="1600"/>
              <a:buNone/>
              <a:defRPr sz="1600">
                <a:solidFill>
                  <a:srgbClr val="898990"/>
                </a:solidFill>
              </a:defRPr>
            </a:lvl5pPr>
            <a:lvl6pPr indent="-228600" lvl="5" marL="2743200" algn="l">
              <a:lnSpc>
                <a:spcPct val="90000"/>
              </a:lnSpc>
              <a:spcBef>
                <a:spcPts val="500"/>
              </a:spcBef>
              <a:spcAft>
                <a:spcPts val="0"/>
              </a:spcAft>
              <a:buClr>
                <a:srgbClr val="898990"/>
              </a:buClr>
              <a:buSzPts val="1600"/>
              <a:buNone/>
              <a:defRPr sz="1600">
                <a:solidFill>
                  <a:srgbClr val="898990"/>
                </a:solidFill>
              </a:defRPr>
            </a:lvl6pPr>
            <a:lvl7pPr indent="-228600" lvl="6" marL="3200400" algn="l">
              <a:lnSpc>
                <a:spcPct val="90000"/>
              </a:lnSpc>
              <a:spcBef>
                <a:spcPts val="500"/>
              </a:spcBef>
              <a:spcAft>
                <a:spcPts val="0"/>
              </a:spcAft>
              <a:buClr>
                <a:srgbClr val="898990"/>
              </a:buClr>
              <a:buSzPts val="1600"/>
              <a:buNone/>
              <a:defRPr sz="1600">
                <a:solidFill>
                  <a:srgbClr val="898990"/>
                </a:solidFill>
              </a:defRPr>
            </a:lvl7pPr>
            <a:lvl8pPr indent="-228600" lvl="7" marL="3657600" algn="l">
              <a:lnSpc>
                <a:spcPct val="90000"/>
              </a:lnSpc>
              <a:spcBef>
                <a:spcPts val="500"/>
              </a:spcBef>
              <a:spcAft>
                <a:spcPts val="0"/>
              </a:spcAft>
              <a:buClr>
                <a:srgbClr val="898990"/>
              </a:buClr>
              <a:buSzPts val="1600"/>
              <a:buNone/>
              <a:defRPr sz="1600">
                <a:solidFill>
                  <a:srgbClr val="898990"/>
                </a:solidFill>
              </a:defRPr>
            </a:lvl8pPr>
            <a:lvl9pPr indent="-228600" lvl="8" marL="4114800" algn="l">
              <a:lnSpc>
                <a:spcPct val="90000"/>
              </a:lnSpc>
              <a:spcBef>
                <a:spcPts val="500"/>
              </a:spcBef>
              <a:spcAft>
                <a:spcPts val="0"/>
              </a:spcAft>
              <a:buClr>
                <a:srgbClr val="898990"/>
              </a:buClr>
              <a:buSzPts val="1600"/>
              <a:buNone/>
              <a:defRPr sz="1600">
                <a:solidFill>
                  <a:srgbClr val="898990"/>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34" name="Shape 34"/>
        <p:cNvGrpSpPr/>
        <p:nvPr/>
      </p:nvGrpSpPr>
      <p:grpSpPr>
        <a:xfrm>
          <a:off x="0" y="0"/>
          <a:ext cx="0" cy="0"/>
          <a:chOff x="0" y="0"/>
          <a:chExt cx="0" cy="0"/>
        </a:xfrm>
      </p:grpSpPr>
      <p:pic>
        <p:nvPicPr>
          <p:cNvPr descr="Tech Background&quot; Images – Browse 8,227 Stock Photos, Vectors, and Video |  Adobe Stock" id="35" name="Google Shape;35;p15"/>
          <p:cNvPicPr preferRelativeResize="0"/>
          <p:nvPr/>
        </p:nvPicPr>
        <p:blipFill rotWithShape="1">
          <a:blip r:embed="rId2">
            <a:alphaModFix/>
          </a:blip>
          <a:srcRect b="1249" l="2352" r="1953" t="2332"/>
          <a:stretch/>
        </p:blipFill>
        <p:spPr>
          <a:xfrm>
            <a:off x="-21770" y="0"/>
            <a:ext cx="12213771" cy="6858000"/>
          </a:xfrm>
          <a:custGeom>
            <a:rect b="b" l="l" r="r" t="t"/>
            <a:pathLst>
              <a:path extrusionOk="0" h="6858000" w="12213771">
                <a:moveTo>
                  <a:pt x="0" y="0"/>
                </a:moveTo>
                <a:lnTo>
                  <a:pt x="12213771" y="0"/>
                </a:lnTo>
                <a:lnTo>
                  <a:pt x="12213771" y="6858000"/>
                </a:lnTo>
                <a:lnTo>
                  <a:pt x="0" y="6858000"/>
                </a:lnTo>
                <a:close/>
              </a:path>
            </a:pathLst>
          </a:custGeom>
          <a:noFill/>
          <a:ln>
            <a:noFill/>
          </a:ln>
        </p:spPr>
      </p:pic>
      <p:sp>
        <p:nvSpPr>
          <p:cNvPr id="36" name="Google Shape;36;p15"/>
          <p:cNvSpPr txBox="1"/>
          <p:nvPr>
            <p:ph type="title"/>
          </p:nvPr>
        </p:nvSpPr>
        <p:spPr>
          <a:xfrm>
            <a:off x="-21771" y="1832442"/>
            <a:ext cx="12213771" cy="26289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lt1"/>
              </a:buClr>
              <a:buSzPts val="8000"/>
              <a:buFont typeface="Calibri"/>
              <a:buNone/>
              <a:defRPr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p:cSld name="One Third">
    <p:spTree>
      <p:nvGrpSpPr>
        <p:cNvPr id="37" name="Shape 37"/>
        <p:cNvGrpSpPr/>
        <p:nvPr/>
      </p:nvGrpSpPr>
      <p:grpSpPr>
        <a:xfrm>
          <a:off x="0" y="0"/>
          <a:ext cx="0" cy="0"/>
          <a:chOff x="0" y="0"/>
          <a:chExt cx="0" cy="0"/>
        </a:xfrm>
      </p:grpSpPr>
      <p:sp>
        <p:nvSpPr>
          <p:cNvPr id="38" name="Google Shape;38;p16"/>
          <p:cNvSpPr txBox="1"/>
          <p:nvPr>
            <p:ph idx="1" type="body"/>
          </p:nvPr>
        </p:nvSpPr>
        <p:spPr>
          <a:xfrm>
            <a:off x="4455269" y="603666"/>
            <a:ext cx="7057847" cy="545423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16"/>
          <p:cNvSpPr/>
          <p:nvPr/>
        </p:nvSpPr>
        <p:spPr>
          <a:xfrm>
            <a:off x="1" y="0"/>
            <a:ext cx="41148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 name="Google Shape;40;p16"/>
          <p:cNvSpPr txBox="1"/>
          <p:nvPr>
            <p:ph type="title"/>
          </p:nvPr>
        </p:nvSpPr>
        <p:spPr>
          <a:xfrm>
            <a:off x="838202" y="2049670"/>
            <a:ext cx="2743200" cy="2562226"/>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3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ne Third">
  <p:cSld name="1_One Third">
    <p:spTree>
      <p:nvGrpSpPr>
        <p:cNvPr id="41" name="Shape 41"/>
        <p:cNvGrpSpPr/>
        <p:nvPr/>
      </p:nvGrpSpPr>
      <p:grpSpPr>
        <a:xfrm>
          <a:off x="0" y="0"/>
          <a:ext cx="0" cy="0"/>
          <a:chOff x="0" y="0"/>
          <a:chExt cx="0" cy="0"/>
        </a:xfrm>
      </p:grpSpPr>
      <p:sp>
        <p:nvSpPr>
          <p:cNvPr id="42" name="Google Shape;42;p17"/>
          <p:cNvSpPr txBox="1"/>
          <p:nvPr>
            <p:ph type="title"/>
          </p:nvPr>
        </p:nvSpPr>
        <p:spPr>
          <a:xfrm>
            <a:off x="678882" y="603666"/>
            <a:ext cx="705527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7"/>
          <p:cNvSpPr txBox="1"/>
          <p:nvPr>
            <p:ph idx="1" type="body"/>
          </p:nvPr>
        </p:nvSpPr>
        <p:spPr>
          <a:xfrm>
            <a:off x="678882" y="1659835"/>
            <a:ext cx="7055274"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p:nvPr/>
        </p:nvSpPr>
        <p:spPr>
          <a:xfrm>
            <a:off x="8077201" y="0"/>
            <a:ext cx="41148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5" name="Google Shape;45;p17"/>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ne Third">
  <p:cSld name="4_One Third">
    <p:spTree>
      <p:nvGrpSpPr>
        <p:cNvPr id="46" name="Shape 46"/>
        <p:cNvGrpSpPr/>
        <p:nvPr/>
      </p:nvGrpSpPr>
      <p:grpSpPr>
        <a:xfrm>
          <a:off x="0" y="0"/>
          <a:ext cx="0" cy="0"/>
          <a:chOff x="0" y="0"/>
          <a:chExt cx="0" cy="0"/>
        </a:xfrm>
      </p:grpSpPr>
      <p:sp>
        <p:nvSpPr>
          <p:cNvPr id="47" name="Google Shape;47;p18"/>
          <p:cNvSpPr txBox="1"/>
          <p:nvPr/>
        </p:nvSpPr>
        <p:spPr>
          <a:xfrm>
            <a:off x="838200" y="3122614"/>
            <a:ext cx="2819401"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1D1B58"/>
              </a:buClr>
              <a:buSzPts val="3400"/>
              <a:buFont typeface="Calibri"/>
              <a:buNone/>
            </a:pPr>
            <a:r>
              <a:rPr b="1" lang="en-US" sz="3400">
                <a:solidFill>
                  <a:srgbClr val="1D1B58"/>
                </a:solidFill>
                <a:latin typeface="Calibri"/>
                <a:ea typeface="Calibri"/>
                <a:cs typeface="Calibri"/>
                <a:sym typeface="Calibri"/>
              </a:rPr>
              <a:t>Click to edit Master title style</a:t>
            </a:r>
            <a:endParaRPr/>
          </a:p>
        </p:txBody>
      </p:sp>
      <p:sp>
        <p:nvSpPr>
          <p:cNvPr id="48" name="Google Shape;48;p18"/>
          <p:cNvSpPr/>
          <p:nvPr/>
        </p:nvSpPr>
        <p:spPr>
          <a:xfrm>
            <a:off x="3454417" y="0"/>
            <a:ext cx="8737584" cy="6858000"/>
          </a:xfrm>
          <a:custGeom>
            <a:rect b="b" l="l" r="r" t="t"/>
            <a:pathLst>
              <a:path extrusionOk="0" h="6858000" w="9601184">
                <a:moveTo>
                  <a:pt x="0" y="0"/>
                </a:moveTo>
                <a:lnTo>
                  <a:pt x="9601184" y="0"/>
                </a:lnTo>
                <a:lnTo>
                  <a:pt x="9601184" y="6858000"/>
                </a:lnTo>
                <a:lnTo>
                  <a:pt x="0" y="6858000"/>
                </a:lnTo>
                <a:lnTo>
                  <a:pt x="660384" y="3429000"/>
                </a:lnTo>
                <a:lnTo>
                  <a:pt x="0" y="0"/>
                </a:lnTo>
                <a:close/>
              </a:path>
            </a:pathLst>
          </a:custGeom>
          <a:solidFill>
            <a:srgbClr val="1D1B5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 name="Google Shape;49;p18"/>
          <p:cNvSpPr txBox="1"/>
          <p:nvPr>
            <p:ph type="title"/>
          </p:nvPr>
        </p:nvSpPr>
        <p:spPr>
          <a:xfrm>
            <a:off x="4455269" y="603666"/>
            <a:ext cx="7057847"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3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8"/>
          <p:cNvSpPr txBox="1"/>
          <p:nvPr>
            <p:ph idx="1" type="body"/>
          </p:nvPr>
        </p:nvSpPr>
        <p:spPr>
          <a:xfrm>
            <a:off x="4455269" y="1659835"/>
            <a:ext cx="7057847"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1" name="Google Shape;51;p18"/>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ne Third">
  <p:cSld name="3_One Third">
    <p:spTree>
      <p:nvGrpSpPr>
        <p:cNvPr id="52" name="Shape 52"/>
        <p:cNvGrpSpPr/>
        <p:nvPr/>
      </p:nvGrpSpPr>
      <p:grpSpPr>
        <a:xfrm>
          <a:off x="0" y="0"/>
          <a:ext cx="0" cy="0"/>
          <a:chOff x="0" y="0"/>
          <a:chExt cx="0" cy="0"/>
        </a:xfrm>
      </p:grpSpPr>
      <p:sp>
        <p:nvSpPr>
          <p:cNvPr id="53" name="Google Shape;53;p19"/>
          <p:cNvSpPr txBox="1"/>
          <p:nvPr>
            <p:ph type="title"/>
          </p:nvPr>
        </p:nvSpPr>
        <p:spPr>
          <a:xfrm>
            <a:off x="678882" y="603666"/>
            <a:ext cx="6687118"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9"/>
          <p:cNvSpPr txBox="1"/>
          <p:nvPr>
            <p:ph idx="1" type="body"/>
          </p:nvPr>
        </p:nvSpPr>
        <p:spPr>
          <a:xfrm>
            <a:off x="678882" y="1659835"/>
            <a:ext cx="6687118"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9"/>
          <p:cNvSpPr txBox="1"/>
          <p:nvPr/>
        </p:nvSpPr>
        <p:spPr>
          <a:xfrm>
            <a:off x="8567565" y="3064248"/>
            <a:ext cx="3314556"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400"/>
              <a:buFont typeface="Calibri"/>
              <a:buNone/>
            </a:pPr>
            <a:r>
              <a:rPr b="1" lang="en-US" sz="3400">
                <a:solidFill>
                  <a:schemeClr val="lt1"/>
                </a:solidFill>
                <a:latin typeface="Calibri"/>
                <a:ea typeface="Calibri"/>
                <a:cs typeface="Calibri"/>
                <a:sym typeface="Calibri"/>
              </a:rPr>
              <a:t>Click to edit Master title style</a:t>
            </a:r>
            <a:endParaRPr/>
          </a:p>
        </p:txBody>
      </p:sp>
      <p:sp>
        <p:nvSpPr>
          <p:cNvPr id="56" name="Google Shape;56;p19"/>
          <p:cNvSpPr/>
          <p:nvPr/>
        </p:nvSpPr>
        <p:spPr>
          <a:xfrm>
            <a:off x="7543800" y="0"/>
            <a:ext cx="4648201" cy="6858000"/>
          </a:xfrm>
          <a:custGeom>
            <a:rect b="b" l="l" r="r" t="t"/>
            <a:pathLst>
              <a:path extrusionOk="0" h="6858000" w="3818882">
                <a:moveTo>
                  <a:pt x="0" y="0"/>
                </a:moveTo>
                <a:lnTo>
                  <a:pt x="3818882" y="0"/>
                </a:lnTo>
                <a:lnTo>
                  <a:pt x="3818882" y="6858000"/>
                </a:lnTo>
                <a:lnTo>
                  <a:pt x="0" y="6858000"/>
                </a:lnTo>
                <a:lnTo>
                  <a:pt x="796282" y="3429000"/>
                </a:lnTo>
                <a:lnTo>
                  <a:pt x="0" y="0"/>
                </a:lnTo>
                <a:close/>
              </a:path>
            </a:pathLst>
          </a:custGeom>
          <a:solidFill>
            <a:srgbClr val="1D1B5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7" name="Google Shape;57;p19"/>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8" name="Shape 58"/>
        <p:cNvGrpSpPr/>
        <p:nvPr/>
      </p:nvGrpSpPr>
      <p:grpSpPr>
        <a:xfrm>
          <a:off x="0" y="0"/>
          <a:ext cx="0" cy="0"/>
          <a:chOff x="0" y="0"/>
          <a:chExt cx="0" cy="0"/>
        </a:xfrm>
      </p:grpSpPr>
      <p:sp>
        <p:nvSpPr>
          <p:cNvPr id="59" name="Google Shape;59;p20"/>
          <p:cNvSpPr txBox="1"/>
          <p:nvPr>
            <p:ph type="title"/>
          </p:nvPr>
        </p:nvSpPr>
        <p:spPr>
          <a:xfrm>
            <a:off x="678881" y="603666"/>
            <a:ext cx="10834233"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 type="body"/>
          </p:nvPr>
        </p:nvSpPr>
        <p:spPr>
          <a:xfrm>
            <a:off x="678881" y="1659835"/>
            <a:ext cx="5340919" cy="439944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20"/>
          <p:cNvSpPr txBox="1"/>
          <p:nvPr>
            <p:ph idx="2" type="body"/>
          </p:nvPr>
        </p:nvSpPr>
        <p:spPr>
          <a:xfrm>
            <a:off x="6172199" y="1659835"/>
            <a:ext cx="5340917" cy="439944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2" name="Shape 62"/>
        <p:cNvGrpSpPr/>
        <p:nvPr/>
      </p:nvGrpSpPr>
      <p:grpSpPr>
        <a:xfrm>
          <a:off x="0" y="0"/>
          <a:ext cx="0" cy="0"/>
          <a:chOff x="0" y="0"/>
          <a:chExt cx="0" cy="0"/>
        </a:xfrm>
      </p:grpSpPr>
      <p:sp>
        <p:nvSpPr>
          <p:cNvPr id="63" name="Google Shape;63;p21"/>
          <p:cNvSpPr txBox="1"/>
          <p:nvPr>
            <p:ph type="title"/>
          </p:nvPr>
        </p:nvSpPr>
        <p:spPr>
          <a:xfrm>
            <a:off x="678881" y="603665"/>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1"/>
          <p:cNvSpPr txBox="1"/>
          <p:nvPr>
            <p:ph idx="1" type="body"/>
          </p:nvPr>
        </p:nvSpPr>
        <p:spPr>
          <a:xfrm>
            <a:off x="678881" y="1659834"/>
            <a:ext cx="5318693" cy="6553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2400"/>
              <a:buNone/>
              <a:defRPr b="1" sz="2400"/>
            </a:lvl1pPr>
            <a:lvl2pPr indent="-228600" lvl="1" marL="914400" algn="l">
              <a:lnSpc>
                <a:spcPct val="90000"/>
              </a:lnSpc>
              <a:spcBef>
                <a:spcPts val="500"/>
              </a:spcBef>
              <a:spcAft>
                <a:spcPts val="0"/>
              </a:spcAft>
              <a:buClr>
                <a:srgbClr val="171616"/>
              </a:buClr>
              <a:buSzPts val="2000"/>
              <a:buNone/>
              <a:defRPr b="1" sz="2000"/>
            </a:lvl2pPr>
            <a:lvl3pPr indent="-228600" lvl="2" marL="1371600" algn="l">
              <a:lnSpc>
                <a:spcPct val="90000"/>
              </a:lnSpc>
              <a:spcBef>
                <a:spcPts val="500"/>
              </a:spcBef>
              <a:spcAft>
                <a:spcPts val="0"/>
              </a:spcAft>
              <a:buClr>
                <a:srgbClr val="171616"/>
              </a:buClr>
              <a:buSzPts val="1800"/>
              <a:buNone/>
              <a:defRPr b="1" sz="1800"/>
            </a:lvl3pPr>
            <a:lvl4pPr indent="-228600" lvl="3" marL="1828800" algn="l">
              <a:lnSpc>
                <a:spcPct val="90000"/>
              </a:lnSpc>
              <a:spcBef>
                <a:spcPts val="500"/>
              </a:spcBef>
              <a:spcAft>
                <a:spcPts val="0"/>
              </a:spcAft>
              <a:buClr>
                <a:srgbClr val="171616"/>
              </a:buClr>
              <a:buSzPts val="1600"/>
              <a:buNone/>
              <a:defRPr b="1" sz="1600"/>
            </a:lvl4pPr>
            <a:lvl5pPr indent="-228600" lvl="4" marL="2286000" algn="l">
              <a:lnSpc>
                <a:spcPct val="90000"/>
              </a:lnSpc>
              <a:spcBef>
                <a:spcPts val="500"/>
              </a:spcBef>
              <a:spcAft>
                <a:spcPts val="0"/>
              </a:spcAft>
              <a:buClr>
                <a:srgbClr val="17161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21"/>
          <p:cNvSpPr txBox="1"/>
          <p:nvPr>
            <p:ph idx="2" type="body"/>
          </p:nvPr>
        </p:nvSpPr>
        <p:spPr>
          <a:xfrm>
            <a:off x="678881" y="2505075"/>
            <a:ext cx="5318693" cy="355282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21"/>
          <p:cNvSpPr txBox="1"/>
          <p:nvPr>
            <p:ph idx="3" type="body"/>
          </p:nvPr>
        </p:nvSpPr>
        <p:spPr>
          <a:xfrm>
            <a:off x="6172202" y="1659834"/>
            <a:ext cx="5340914" cy="6553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2400"/>
              <a:buNone/>
              <a:defRPr b="1" sz="2400"/>
            </a:lvl1pPr>
            <a:lvl2pPr indent="-228600" lvl="1" marL="914400" algn="l">
              <a:lnSpc>
                <a:spcPct val="90000"/>
              </a:lnSpc>
              <a:spcBef>
                <a:spcPts val="500"/>
              </a:spcBef>
              <a:spcAft>
                <a:spcPts val="0"/>
              </a:spcAft>
              <a:buClr>
                <a:srgbClr val="171616"/>
              </a:buClr>
              <a:buSzPts val="2000"/>
              <a:buNone/>
              <a:defRPr b="1" sz="2000"/>
            </a:lvl2pPr>
            <a:lvl3pPr indent="-228600" lvl="2" marL="1371600" algn="l">
              <a:lnSpc>
                <a:spcPct val="90000"/>
              </a:lnSpc>
              <a:spcBef>
                <a:spcPts val="500"/>
              </a:spcBef>
              <a:spcAft>
                <a:spcPts val="0"/>
              </a:spcAft>
              <a:buClr>
                <a:srgbClr val="171616"/>
              </a:buClr>
              <a:buSzPts val="1800"/>
              <a:buNone/>
              <a:defRPr b="1" sz="1800"/>
            </a:lvl3pPr>
            <a:lvl4pPr indent="-228600" lvl="3" marL="1828800" algn="l">
              <a:lnSpc>
                <a:spcPct val="90000"/>
              </a:lnSpc>
              <a:spcBef>
                <a:spcPts val="500"/>
              </a:spcBef>
              <a:spcAft>
                <a:spcPts val="0"/>
              </a:spcAft>
              <a:buClr>
                <a:srgbClr val="171616"/>
              </a:buClr>
              <a:buSzPts val="1600"/>
              <a:buNone/>
              <a:defRPr b="1" sz="1600"/>
            </a:lvl4pPr>
            <a:lvl5pPr indent="-228600" lvl="4" marL="2286000" algn="l">
              <a:lnSpc>
                <a:spcPct val="90000"/>
              </a:lnSpc>
              <a:spcBef>
                <a:spcPts val="500"/>
              </a:spcBef>
              <a:spcAft>
                <a:spcPts val="0"/>
              </a:spcAft>
              <a:buClr>
                <a:srgbClr val="17161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21"/>
          <p:cNvSpPr txBox="1"/>
          <p:nvPr>
            <p:ph idx="4" type="body"/>
          </p:nvPr>
        </p:nvSpPr>
        <p:spPr>
          <a:xfrm>
            <a:off x="6172202" y="2505075"/>
            <a:ext cx="5340914" cy="355282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8" name="Shape 68"/>
        <p:cNvGrpSpPr/>
        <p:nvPr/>
      </p:nvGrpSpPr>
      <p:grpSpPr>
        <a:xfrm>
          <a:off x="0" y="0"/>
          <a:ext cx="0" cy="0"/>
          <a:chOff x="0" y="0"/>
          <a:chExt cx="0" cy="0"/>
        </a:xfrm>
      </p:grpSpPr>
      <p:sp>
        <p:nvSpPr>
          <p:cNvPr id="69" name="Google Shape;69;p22"/>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71" name="Shape 71"/>
        <p:cNvGrpSpPr/>
        <p:nvPr/>
      </p:nvGrpSpPr>
      <p:grpSpPr>
        <a:xfrm>
          <a:off x="0" y="0"/>
          <a:ext cx="0" cy="0"/>
          <a:chOff x="0" y="0"/>
          <a:chExt cx="0" cy="0"/>
        </a:xfrm>
      </p:grpSpPr>
      <p:sp>
        <p:nvSpPr>
          <p:cNvPr id="72" name="Google Shape;72;p24"/>
          <p:cNvSpPr txBox="1"/>
          <p:nvPr>
            <p:ph type="title"/>
          </p:nvPr>
        </p:nvSpPr>
        <p:spPr>
          <a:xfrm>
            <a:off x="678881" y="603666"/>
            <a:ext cx="4093145" cy="1453734"/>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4"/>
          <p:cNvSpPr txBox="1"/>
          <p:nvPr>
            <p:ph idx="1" type="body"/>
          </p:nvPr>
        </p:nvSpPr>
        <p:spPr>
          <a:xfrm>
            <a:off x="5183189" y="1659835"/>
            <a:ext cx="6329928" cy="420121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rgbClr val="171616"/>
              </a:buClr>
              <a:buSzPts val="3200"/>
              <a:buChar char="•"/>
              <a:defRPr sz="3200">
                <a:solidFill>
                  <a:srgbClr val="171616"/>
                </a:solidFill>
              </a:defRPr>
            </a:lvl1pPr>
            <a:lvl2pPr indent="-406400" lvl="1" marL="914400" algn="l">
              <a:lnSpc>
                <a:spcPct val="90000"/>
              </a:lnSpc>
              <a:spcBef>
                <a:spcPts val="500"/>
              </a:spcBef>
              <a:spcAft>
                <a:spcPts val="0"/>
              </a:spcAft>
              <a:buClr>
                <a:srgbClr val="171616"/>
              </a:buClr>
              <a:buSzPts val="2800"/>
              <a:buChar char="•"/>
              <a:defRPr sz="2800">
                <a:solidFill>
                  <a:srgbClr val="171616"/>
                </a:solidFill>
              </a:defRPr>
            </a:lvl2pPr>
            <a:lvl3pPr indent="-381000" lvl="2" marL="1371600" algn="l">
              <a:lnSpc>
                <a:spcPct val="90000"/>
              </a:lnSpc>
              <a:spcBef>
                <a:spcPts val="500"/>
              </a:spcBef>
              <a:spcAft>
                <a:spcPts val="0"/>
              </a:spcAft>
              <a:buClr>
                <a:srgbClr val="171616"/>
              </a:buClr>
              <a:buSzPts val="2400"/>
              <a:buChar char="•"/>
              <a:defRPr sz="2400">
                <a:solidFill>
                  <a:srgbClr val="171616"/>
                </a:solidFill>
              </a:defRPr>
            </a:lvl3pPr>
            <a:lvl4pPr indent="-355600" lvl="3" marL="1828800" algn="l">
              <a:lnSpc>
                <a:spcPct val="90000"/>
              </a:lnSpc>
              <a:spcBef>
                <a:spcPts val="500"/>
              </a:spcBef>
              <a:spcAft>
                <a:spcPts val="0"/>
              </a:spcAft>
              <a:buClr>
                <a:srgbClr val="171616"/>
              </a:buClr>
              <a:buSzPts val="2000"/>
              <a:buChar char="•"/>
              <a:defRPr sz="2000">
                <a:solidFill>
                  <a:srgbClr val="171616"/>
                </a:solidFill>
              </a:defRPr>
            </a:lvl4pPr>
            <a:lvl5pPr indent="-355600" lvl="4" marL="2286000" algn="l">
              <a:lnSpc>
                <a:spcPct val="90000"/>
              </a:lnSpc>
              <a:spcBef>
                <a:spcPts val="500"/>
              </a:spcBef>
              <a:spcAft>
                <a:spcPts val="0"/>
              </a:spcAft>
              <a:buClr>
                <a:srgbClr val="171616"/>
              </a:buClr>
              <a:buSzPts val="2000"/>
              <a:buChar char="•"/>
              <a:defRPr sz="2000">
                <a:solidFill>
                  <a:srgbClr val="171616"/>
                </a:solidFil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24"/>
          <p:cNvSpPr txBox="1"/>
          <p:nvPr>
            <p:ph idx="2" type="body"/>
          </p:nvPr>
        </p:nvSpPr>
        <p:spPr>
          <a:xfrm>
            <a:off x="678881" y="2315183"/>
            <a:ext cx="4093145" cy="35538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1600"/>
              <a:buNone/>
              <a:defRPr sz="1600"/>
            </a:lvl1pPr>
            <a:lvl2pPr indent="-228600" lvl="1" marL="914400" algn="l">
              <a:lnSpc>
                <a:spcPct val="90000"/>
              </a:lnSpc>
              <a:spcBef>
                <a:spcPts val="500"/>
              </a:spcBef>
              <a:spcAft>
                <a:spcPts val="0"/>
              </a:spcAft>
              <a:buClr>
                <a:srgbClr val="171616"/>
              </a:buClr>
              <a:buSzPts val="1400"/>
              <a:buNone/>
              <a:defRPr sz="1400"/>
            </a:lvl2pPr>
            <a:lvl3pPr indent="-228600" lvl="2" marL="1371600" algn="l">
              <a:lnSpc>
                <a:spcPct val="90000"/>
              </a:lnSpc>
              <a:spcBef>
                <a:spcPts val="500"/>
              </a:spcBef>
              <a:spcAft>
                <a:spcPts val="0"/>
              </a:spcAft>
              <a:buClr>
                <a:srgbClr val="171616"/>
              </a:buClr>
              <a:buSzPts val="1200"/>
              <a:buNone/>
              <a:defRPr sz="1200"/>
            </a:lvl3pPr>
            <a:lvl4pPr indent="-228600" lvl="3" marL="1828800" algn="l">
              <a:lnSpc>
                <a:spcPct val="90000"/>
              </a:lnSpc>
              <a:spcBef>
                <a:spcPts val="500"/>
              </a:spcBef>
              <a:spcAft>
                <a:spcPts val="0"/>
              </a:spcAft>
              <a:buClr>
                <a:srgbClr val="171616"/>
              </a:buClr>
              <a:buSzPts val="1000"/>
              <a:buNone/>
              <a:defRPr sz="1000"/>
            </a:lvl4pPr>
            <a:lvl5pPr indent="-228600" lvl="4" marL="2286000" algn="l">
              <a:lnSpc>
                <a:spcPct val="90000"/>
              </a:lnSpc>
              <a:spcBef>
                <a:spcPts val="500"/>
              </a:spcBef>
              <a:spcAft>
                <a:spcPts val="0"/>
              </a:spcAft>
              <a:buClr>
                <a:srgbClr val="171616"/>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75" name="Shape 75"/>
        <p:cNvGrpSpPr/>
        <p:nvPr/>
      </p:nvGrpSpPr>
      <p:grpSpPr>
        <a:xfrm>
          <a:off x="0" y="0"/>
          <a:ext cx="0" cy="0"/>
          <a:chOff x="0" y="0"/>
          <a:chExt cx="0" cy="0"/>
        </a:xfrm>
      </p:grpSpPr>
      <p:sp>
        <p:nvSpPr>
          <p:cNvPr id="76" name="Google Shape;76;p25"/>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5"/>
          <p:cNvSpPr txBox="1"/>
          <p:nvPr>
            <p:ph idx="1" type="body"/>
          </p:nvPr>
        </p:nvSpPr>
        <p:spPr>
          <a:xfrm rot="5400000">
            <a:off x="4012534" y="-1673816"/>
            <a:ext cx="4166933" cy="1083423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2.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678884" y="603666"/>
            <a:ext cx="10834232" cy="612775"/>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dk1"/>
              </a:buClr>
              <a:buSzPts val="3400"/>
              <a:buFont typeface="Calibri"/>
              <a:buNone/>
              <a:defRPr b="1" i="0" sz="3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678884" y="1659835"/>
            <a:ext cx="10834234" cy="439806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171616"/>
              </a:buClr>
              <a:buSzPts val="2800"/>
              <a:buFont typeface="Arial"/>
              <a:buChar char="•"/>
              <a:defRPr b="0" i="0" sz="2800" u="none" cap="none" strike="noStrike">
                <a:solidFill>
                  <a:srgbClr val="171616"/>
                </a:solidFill>
                <a:latin typeface="Calibri"/>
                <a:ea typeface="Calibri"/>
                <a:cs typeface="Calibri"/>
                <a:sym typeface="Calibri"/>
              </a:defRPr>
            </a:lvl1pPr>
            <a:lvl2pPr indent="-381000" lvl="1" marL="914400" marR="0" rtl="0" algn="l">
              <a:lnSpc>
                <a:spcPct val="90000"/>
              </a:lnSpc>
              <a:spcBef>
                <a:spcPts val="500"/>
              </a:spcBef>
              <a:spcAft>
                <a:spcPts val="0"/>
              </a:spcAft>
              <a:buClr>
                <a:srgbClr val="171616"/>
              </a:buClr>
              <a:buSzPts val="2400"/>
              <a:buFont typeface="Arial"/>
              <a:buChar char="•"/>
              <a:defRPr b="0" i="0" sz="2400" u="none" cap="none" strike="noStrike">
                <a:solidFill>
                  <a:srgbClr val="171616"/>
                </a:solidFill>
                <a:latin typeface="Calibri"/>
                <a:ea typeface="Calibri"/>
                <a:cs typeface="Calibri"/>
                <a:sym typeface="Calibri"/>
              </a:defRPr>
            </a:lvl2pPr>
            <a:lvl3pPr indent="-355600" lvl="2" marL="1371600" marR="0" rtl="0" algn="l">
              <a:lnSpc>
                <a:spcPct val="90000"/>
              </a:lnSpc>
              <a:spcBef>
                <a:spcPts val="500"/>
              </a:spcBef>
              <a:spcAft>
                <a:spcPts val="0"/>
              </a:spcAft>
              <a:buClr>
                <a:srgbClr val="171616"/>
              </a:buClr>
              <a:buSzPts val="2000"/>
              <a:buFont typeface="Arial"/>
              <a:buChar char="•"/>
              <a:defRPr b="0" i="0" sz="2000" u="none" cap="none" strike="noStrike">
                <a:solidFill>
                  <a:srgbClr val="171616"/>
                </a:solidFill>
                <a:latin typeface="Calibri"/>
                <a:ea typeface="Calibri"/>
                <a:cs typeface="Calibri"/>
                <a:sym typeface="Calibri"/>
              </a:defRPr>
            </a:lvl3pPr>
            <a:lvl4pPr indent="-342900" lvl="3" marL="1828800" marR="0" rtl="0" algn="l">
              <a:lnSpc>
                <a:spcPct val="90000"/>
              </a:lnSpc>
              <a:spcBef>
                <a:spcPts val="500"/>
              </a:spcBef>
              <a:spcAft>
                <a:spcPts val="0"/>
              </a:spcAft>
              <a:buClr>
                <a:srgbClr val="171616"/>
              </a:buClr>
              <a:buSzPts val="1800"/>
              <a:buFont typeface="Arial"/>
              <a:buChar char="•"/>
              <a:defRPr b="0" i="0" sz="1800" u="none" cap="none" strike="noStrike">
                <a:solidFill>
                  <a:srgbClr val="171616"/>
                </a:solidFill>
                <a:latin typeface="Calibri"/>
                <a:ea typeface="Calibri"/>
                <a:cs typeface="Calibri"/>
                <a:sym typeface="Calibri"/>
              </a:defRPr>
            </a:lvl4pPr>
            <a:lvl5pPr indent="-342900" lvl="4" marL="2286000" marR="0" rtl="0" algn="l">
              <a:lnSpc>
                <a:spcPct val="90000"/>
              </a:lnSpc>
              <a:spcBef>
                <a:spcPts val="500"/>
              </a:spcBef>
              <a:spcAft>
                <a:spcPts val="0"/>
              </a:spcAft>
              <a:buClr>
                <a:srgbClr val="171616"/>
              </a:buClr>
              <a:buSzPts val="1800"/>
              <a:buFont typeface="Arial"/>
              <a:buChar char="•"/>
              <a:defRPr b="0" i="0" sz="1800" u="none" cap="none" strike="noStrike">
                <a:solidFill>
                  <a:srgbClr val="171616"/>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descr="Top Ranked Data Science Institute, Classroom Plus Online Training | Boston  Institute of Analytics" id="12" name="Google Shape;12;p9"/>
          <p:cNvPicPr preferRelativeResize="0"/>
          <p:nvPr/>
        </p:nvPicPr>
        <p:blipFill rotWithShape="1">
          <a:blip r:embed="rId1">
            <a:alphaModFix/>
          </a:blip>
          <a:srcRect b="0" l="3999" r="3112" t="0"/>
          <a:stretch/>
        </p:blipFill>
        <p:spPr>
          <a:xfrm>
            <a:off x="9493777" y="6115409"/>
            <a:ext cx="2019339" cy="548917"/>
          </a:xfrm>
          <a:prstGeom prst="rect">
            <a:avLst/>
          </a:prstGeom>
          <a:noFill/>
          <a:ln>
            <a:noFill/>
          </a:ln>
        </p:spPr>
      </p:pic>
      <p:sp>
        <p:nvSpPr>
          <p:cNvPr id="13" name="Google Shape;13;p9"/>
          <p:cNvSpPr/>
          <p:nvPr/>
        </p:nvSpPr>
        <p:spPr>
          <a:xfrm>
            <a:off x="678883" y="6207305"/>
            <a:ext cx="7474517" cy="365125"/>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100" u="none" cap="none" strike="noStrike">
                <a:solidFill>
                  <a:srgbClr val="AEABAB"/>
                </a:solidFill>
                <a:latin typeface="Calibri"/>
                <a:ea typeface="Calibri"/>
                <a:cs typeface="Calibri"/>
                <a:sym typeface="Calibri"/>
              </a:rPr>
              <a:t>CONFIDENTIAL</a:t>
            </a:r>
            <a:r>
              <a:rPr b="0" i="0" lang="en-US" sz="1100" u="none" cap="none" strike="noStrike">
                <a:solidFill>
                  <a:srgbClr val="AEABAB"/>
                </a:solidFill>
                <a:latin typeface="Calibri"/>
                <a:ea typeface="Calibri"/>
                <a:cs typeface="Calibri"/>
                <a:sym typeface="Calibri"/>
              </a:rPr>
              <a:t>: The information in this document belongs to Boston Institute of Analytics LLC. Any unauthorized sharing of this material is prohibited and subject to legal action under breach of IP and confidentiality clauses. </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p:nvPr/>
        </p:nvSpPr>
        <p:spPr>
          <a:xfrm>
            <a:off x="1" y="2788290"/>
            <a:ext cx="12192000" cy="81152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chemeClr val="lt1"/>
                </a:solidFill>
                <a:latin typeface="Calibri"/>
                <a:ea typeface="Calibri"/>
                <a:cs typeface="Calibri"/>
                <a:sym typeface="Calibri"/>
              </a:rPr>
              <a:t>CLASSIFYING NEWS ARTICLES</a:t>
            </a:r>
            <a:endParaRPr b="1" sz="44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4400">
                <a:solidFill>
                  <a:schemeClr val="lt1"/>
                </a:solidFill>
                <a:latin typeface="Calibri"/>
                <a:ea typeface="Calibri"/>
                <a:cs typeface="Calibri"/>
                <a:sym typeface="Calibri"/>
              </a:rPr>
              <a:t>IQRAA SHAIKH </a:t>
            </a:r>
            <a:endParaRPr b="1" sz="44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3400"/>
              <a:buFont typeface="Calibri"/>
              <a:buNone/>
            </a:pPr>
            <a:r>
              <a:rPr lang="en-US"/>
              <a:t>AGENDA:</a:t>
            </a:r>
            <a:endParaRPr/>
          </a:p>
        </p:txBody>
      </p:sp>
      <p:sp>
        <p:nvSpPr>
          <p:cNvPr id="88" name="Google Shape;88;p2"/>
          <p:cNvSpPr txBox="1"/>
          <p:nvPr>
            <p:ph idx="1" type="body"/>
          </p:nvPr>
        </p:nvSpPr>
        <p:spPr>
          <a:xfrm>
            <a:off x="561225" y="1352775"/>
            <a:ext cx="10834200" cy="4614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71616"/>
              </a:buClr>
              <a:buSzPts val="2800"/>
              <a:buNone/>
            </a:pPr>
            <a:r>
              <a:t/>
            </a:r>
            <a:endParaRPr>
              <a:latin typeface="Georgia"/>
              <a:ea typeface="Georgia"/>
              <a:cs typeface="Georgia"/>
              <a:sym typeface="Georgia"/>
            </a:endParaRPr>
          </a:p>
          <a:p>
            <a:pPr indent="0" lvl="0" marL="0" rtl="0" algn="l">
              <a:lnSpc>
                <a:spcPct val="90000"/>
              </a:lnSpc>
              <a:spcBef>
                <a:spcPts val="0"/>
              </a:spcBef>
              <a:spcAft>
                <a:spcPts val="0"/>
              </a:spcAft>
              <a:buClr>
                <a:srgbClr val="171616"/>
              </a:buClr>
              <a:buSzPts val="2800"/>
              <a:buNone/>
            </a:pPr>
            <a:r>
              <a:rPr lang="en-US">
                <a:latin typeface="Georgia"/>
                <a:ea typeface="Georgia"/>
                <a:cs typeface="Georgia"/>
                <a:sym typeface="Georgia"/>
              </a:rPr>
              <a:t>This project focuses on building  a model that can automatically classify news headlines into appropriate categories using machine learning method.</a:t>
            </a:r>
            <a:endParaRPr>
              <a:latin typeface="Georgia"/>
              <a:ea typeface="Georgia"/>
              <a:cs typeface="Georgia"/>
              <a:sym typeface="Georgia"/>
            </a:endParaRPr>
          </a:p>
        </p:txBody>
      </p:sp>
      <p:pic>
        <p:nvPicPr>
          <p:cNvPr id="89" name="Google Shape;89;p2"/>
          <p:cNvPicPr preferRelativeResize="0"/>
          <p:nvPr/>
        </p:nvPicPr>
        <p:blipFill>
          <a:blip r:embed="rId3">
            <a:alphaModFix/>
          </a:blip>
          <a:stretch>
            <a:fillRect/>
          </a:stretch>
        </p:blipFill>
        <p:spPr>
          <a:xfrm>
            <a:off x="561225" y="2952600"/>
            <a:ext cx="10951899" cy="32705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a02f1b9eea_0_1"/>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INTRODUCTION:</a:t>
            </a:r>
            <a:endParaRPr/>
          </a:p>
        </p:txBody>
      </p:sp>
      <p:sp>
        <p:nvSpPr>
          <p:cNvPr id="96" name="Google Shape;96;g3a02f1b9eea_0_1"/>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In today’s world, news articles are </a:t>
            </a:r>
            <a:r>
              <a:rPr lang="en-US">
                <a:latin typeface="Georgia"/>
                <a:ea typeface="Georgia"/>
                <a:cs typeface="Georgia"/>
                <a:sym typeface="Georgia"/>
              </a:rPr>
              <a:t>published</a:t>
            </a:r>
            <a:r>
              <a:rPr lang="en-US">
                <a:latin typeface="Georgia"/>
                <a:ea typeface="Georgia"/>
                <a:cs typeface="Georgia"/>
                <a:sym typeface="Georgia"/>
              </a:rPr>
              <a:t> online in huge volume everyday. Classifying these articles </a:t>
            </a:r>
            <a:r>
              <a:rPr lang="en-US">
                <a:latin typeface="Georgia"/>
                <a:ea typeface="Georgia"/>
                <a:cs typeface="Georgia"/>
                <a:sym typeface="Georgia"/>
              </a:rPr>
              <a:t>automatically</a:t>
            </a:r>
            <a:r>
              <a:rPr lang="en-US">
                <a:latin typeface="Georgia"/>
                <a:ea typeface="Georgia"/>
                <a:cs typeface="Georgia"/>
                <a:sym typeface="Georgia"/>
              </a:rPr>
              <a:t> into predefined categories (like Sports, 	Politics, Business, Technology, Entertainment, etc.) helps organize and filter information </a:t>
            </a:r>
            <a:r>
              <a:rPr lang="en-US">
                <a:latin typeface="Georgia"/>
                <a:ea typeface="Georgia"/>
                <a:cs typeface="Georgia"/>
                <a:sym typeface="Georgia"/>
              </a:rPr>
              <a:t>efficiently. Manual classification is time-consuming and inconsistent; therefore, machine learning (ML) techniques are used to automate this process. </a:t>
            </a:r>
            <a:endParaRPr>
              <a:latin typeface="Georgia"/>
              <a:ea typeface="Georgia"/>
              <a:cs typeface="Georgia"/>
              <a:sym typeface="Georgia"/>
            </a:endParaRPr>
          </a:p>
          <a:p>
            <a:pPr indent="0" lvl="0" marL="0" rtl="0" algn="l">
              <a:spcBef>
                <a:spcPts val="1000"/>
              </a:spcBef>
              <a:spcAft>
                <a:spcPts val="0"/>
              </a:spcAft>
              <a:buNone/>
            </a:pPr>
            <a:r>
              <a:t/>
            </a:r>
            <a:endParaRPr>
              <a:latin typeface="Georgia"/>
              <a:ea typeface="Georgia"/>
              <a:cs typeface="Georgia"/>
              <a:sym typeface="Georgia"/>
            </a:endParaRPr>
          </a:p>
        </p:txBody>
      </p:sp>
      <p:pic>
        <p:nvPicPr>
          <p:cNvPr id="97" name="Google Shape;97;g3a02f1b9eea_0_1"/>
          <p:cNvPicPr preferRelativeResize="0"/>
          <p:nvPr/>
        </p:nvPicPr>
        <p:blipFill>
          <a:blip r:embed="rId3">
            <a:alphaModFix/>
          </a:blip>
          <a:stretch>
            <a:fillRect/>
          </a:stretch>
        </p:blipFill>
        <p:spPr>
          <a:xfrm>
            <a:off x="4775875" y="4046575"/>
            <a:ext cx="6737198" cy="1967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3400"/>
              <a:buFont typeface="Calibri"/>
              <a:buNone/>
            </a:pPr>
            <a:r>
              <a:rPr lang="en-US"/>
              <a:t>TITLE:</a:t>
            </a:r>
            <a:endParaRPr/>
          </a:p>
        </p:txBody>
      </p:sp>
      <p:sp>
        <p:nvSpPr>
          <p:cNvPr id="103" name="Google Shape;103;p3"/>
          <p:cNvSpPr txBox="1"/>
          <p:nvPr>
            <p:ph idx="1" type="body"/>
          </p:nvPr>
        </p:nvSpPr>
        <p:spPr>
          <a:xfrm>
            <a:off x="678875" y="1141050"/>
            <a:ext cx="7284900" cy="4932000"/>
          </a:xfrm>
          <a:prstGeom prst="rect">
            <a:avLst/>
          </a:prstGeom>
          <a:noFill/>
          <a:ln>
            <a:noFill/>
          </a:ln>
        </p:spPr>
        <p:txBody>
          <a:bodyPr anchorCtr="0" anchor="t" bIns="45700" lIns="91425" spcFirstLastPara="1" rIns="91425" wrap="square" tIns="45700">
            <a:normAutofit fontScale="70000" lnSpcReduction="20000"/>
          </a:bodyPr>
          <a:lstStyle/>
          <a:p>
            <a:pPr indent="0" lvl="0" marL="228600" marR="0" rtl="0" algn="l">
              <a:lnSpc>
                <a:spcPct val="90000"/>
              </a:lnSpc>
              <a:spcBef>
                <a:spcPts val="0"/>
              </a:spcBef>
              <a:spcAft>
                <a:spcPts val="0"/>
              </a:spcAft>
              <a:buNone/>
            </a:pPr>
            <a:r>
              <a:rPr lang="en-US">
                <a:latin typeface="Georgia"/>
                <a:ea typeface="Georgia"/>
                <a:cs typeface="Georgia"/>
                <a:sym typeface="Georgia"/>
              </a:rPr>
              <a:t>. Classifying News Articles Using </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Machine Learning</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Automatic News Category Classification</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Using NLP(National Language</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Processing)</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Text Classification of News Headline</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0" marR="0" rtl="0" algn="l">
              <a:lnSpc>
                <a:spcPct val="90000"/>
              </a:lnSpc>
              <a:spcBef>
                <a:spcPts val="0"/>
              </a:spcBef>
              <a:spcAft>
                <a:spcPts val="0"/>
              </a:spcAft>
              <a:buNone/>
            </a:pPr>
            <a:r>
              <a:rPr lang="en-US">
                <a:latin typeface="Georgia"/>
                <a:ea typeface="Georgia"/>
                <a:cs typeface="Georgia"/>
                <a:sym typeface="Georgia"/>
              </a:rPr>
              <a:t>      Categorization.</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Machine Learning Approach for News</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Headline Categorization </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Intelligent News Classification System</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Using Logistics regression</a:t>
            </a:r>
            <a:endParaRPr>
              <a:latin typeface="Georgia"/>
              <a:ea typeface="Georgia"/>
              <a:cs typeface="Georgia"/>
              <a:sym typeface="Georgia"/>
            </a:endParaRPr>
          </a:p>
          <a:p>
            <a:pPr indent="0" lvl="0" marL="228600" marR="0" rtl="0" algn="l">
              <a:lnSpc>
                <a:spcPct val="90000"/>
              </a:lnSpc>
              <a:spcBef>
                <a:spcPts val="0"/>
              </a:spcBef>
              <a:spcAft>
                <a:spcPts val="0"/>
              </a:spcAft>
              <a:buNone/>
            </a:pPr>
            <a:r>
              <a:t/>
            </a:r>
            <a:endParaRPr>
              <a:latin typeface="Georgia"/>
              <a:ea typeface="Georgia"/>
              <a:cs typeface="Georgia"/>
              <a:sym typeface="Georgia"/>
            </a:endParaRPr>
          </a:p>
          <a:p>
            <a:pPr indent="0" lvl="0" marL="228600" marR="0" rtl="0" algn="l">
              <a:lnSpc>
                <a:spcPct val="90000"/>
              </a:lnSpc>
              <a:spcBef>
                <a:spcPts val="0"/>
              </a:spcBef>
              <a:spcAft>
                <a:spcPts val="0"/>
              </a:spcAft>
              <a:buNone/>
            </a:pPr>
            <a:r>
              <a:rPr lang="en-US">
                <a:latin typeface="Georgia"/>
                <a:ea typeface="Georgia"/>
                <a:cs typeface="Georgia"/>
                <a:sym typeface="Georgia"/>
              </a:rPr>
              <a:t>  and LSTM(Long Short Term Memory).         </a:t>
            </a:r>
            <a:endParaRPr>
              <a:latin typeface="Georgia"/>
              <a:ea typeface="Georgia"/>
              <a:cs typeface="Georgia"/>
              <a:sym typeface="Georgia"/>
            </a:endParaRPr>
          </a:p>
        </p:txBody>
      </p:sp>
      <p:pic>
        <p:nvPicPr>
          <p:cNvPr id="104" name="Google Shape;104;p3"/>
          <p:cNvPicPr preferRelativeResize="0"/>
          <p:nvPr/>
        </p:nvPicPr>
        <p:blipFill>
          <a:blip r:embed="rId3">
            <a:alphaModFix/>
          </a:blip>
          <a:stretch>
            <a:fillRect/>
          </a:stretch>
        </p:blipFill>
        <p:spPr>
          <a:xfrm>
            <a:off x="7481450" y="1141050"/>
            <a:ext cx="4710550" cy="3152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a02f1b9eea_0_9"/>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OBJECTIVES:</a:t>
            </a:r>
            <a:endParaRPr/>
          </a:p>
        </p:txBody>
      </p:sp>
      <p:sp>
        <p:nvSpPr>
          <p:cNvPr id="111" name="Google Shape;111;g3a02f1b9eea_0_9"/>
          <p:cNvSpPr txBox="1"/>
          <p:nvPr>
            <p:ph idx="1" type="body"/>
          </p:nvPr>
        </p:nvSpPr>
        <p:spPr>
          <a:xfrm>
            <a:off x="678875" y="1317500"/>
            <a:ext cx="8143500" cy="4755600"/>
          </a:xfrm>
          <a:prstGeom prst="rect">
            <a:avLst/>
          </a:prstGeom>
        </p:spPr>
        <p:txBody>
          <a:bodyPr anchorCtr="0" anchor="t" bIns="45700" lIns="91425" spcFirstLastPara="1" rIns="91425" wrap="square" tIns="45700">
            <a:normAutofit fontScale="92500" lnSpcReduction="20000"/>
          </a:bodyPr>
          <a:lstStyle/>
          <a:p>
            <a:pPr indent="-393065" lvl="0" marL="457200" rtl="0" algn="l">
              <a:spcBef>
                <a:spcPts val="1000"/>
              </a:spcBef>
              <a:spcAft>
                <a:spcPts val="0"/>
              </a:spcAft>
              <a:buSzPct val="100000"/>
              <a:buFont typeface="Georgia"/>
              <a:buAutoNum type="arabicPeriod"/>
            </a:pPr>
            <a:r>
              <a:rPr lang="en-US">
                <a:latin typeface="Georgia"/>
                <a:ea typeface="Georgia"/>
                <a:cs typeface="Georgia"/>
                <a:sym typeface="Georgia"/>
              </a:rPr>
              <a:t>To preprocess and clean the news headline </a:t>
            </a:r>
            <a:endParaRPr>
              <a:latin typeface="Georgia"/>
              <a:ea typeface="Georgia"/>
              <a:cs typeface="Georgia"/>
              <a:sym typeface="Georgia"/>
            </a:endParaRPr>
          </a:p>
          <a:p>
            <a:pPr indent="0" lvl="0" marL="457200" rtl="0" algn="l">
              <a:spcBef>
                <a:spcPts val="1000"/>
              </a:spcBef>
              <a:spcAft>
                <a:spcPts val="0"/>
              </a:spcAft>
              <a:buNone/>
            </a:pPr>
            <a:r>
              <a:rPr lang="en-US">
                <a:latin typeface="Georgia"/>
                <a:ea typeface="Georgia"/>
                <a:cs typeface="Georgia"/>
                <a:sym typeface="Georgia"/>
              </a:rPr>
              <a:t>dataset </a:t>
            </a:r>
            <a:endParaRPr>
              <a:latin typeface="Georgia"/>
              <a:ea typeface="Georgia"/>
              <a:cs typeface="Georgia"/>
              <a:sym typeface="Georgia"/>
            </a:endParaRPr>
          </a:p>
          <a:p>
            <a:pPr indent="-393065" lvl="0" marL="457200" rtl="0" algn="l">
              <a:spcBef>
                <a:spcPts val="1000"/>
              </a:spcBef>
              <a:spcAft>
                <a:spcPts val="0"/>
              </a:spcAft>
              <a:buSzPct val="100000"/>
              <a:buFont typeface="Georgia"/>
              <a:buAutoNum type="arabicPeriod"/>
            </a:pPr>
            <a:r>
              <a:rPr lang="en-US">
                <a:latin typeface="Georgia"/>
                <a:ea typeface="Georgia"/>
                <a:cs typeface="Georgia"/>
                <a:sym typeface="Georgia"/>
              </a:rPr>
              <a:t>To build and compare two classification models:</a:t>
            </a:r>
            <a:endParaRPr>
              <a:latin typeface="Georgia"/>
              <a:ea typeface="Georgia"/>
              <a:cs typeface="Georgia"/>
              <a:sym typeface="Georgia"/>
            </a:endParaRPr>
          </a:p>
          <a:p>
            <a:pPr indent="0" lvl="0" marL="457200" rtl="0" algn="l">
              <a:spcBef>
                <a:spcPts val="1000"/>
              </a:spcBef>
              <a:spcAft>
                <a:spcPts val="0"/>
              </a:spcAft>
              <a:buNone/>
            </a:pPr>
            <a:r>
              <a:rPr lang="en-US">
                <a:latin typeface="Georgia"/>
                <a:ea typeface="Georgia"/>
                <a:cs typeface="Georgia"/>
                <a:sym typeface="Georgia"/>
              </a:rPr>
              <a:t>.TF-IDF + Logistic Regression (traditional ML  approach)</a:t>
            </a:r>
            <a:endParaRPr>
              <a:latin typeface="Georgia"/>
              <a:ea typeface="Georgia"/>
              <a:cs typeface="Georgia"/>
              <a:sym typeface="Georgia"/>
            </a:endParaRPr>
          </a:p>
          <a:p>
            <a:pPr indent="0" lvl="0" marL="457200" rtl="0" algn="l">
              <a:spcBef>
                <a:spcPts val="1000"/>
              </a:spcBef>
              <a:spcAft>
                <a:spcPts val="0"/>
              </a:spcAft>
              <a:buNone/>
            </a:pPr>
            <a:r>
              <a:rPr lang="en-US">
                <a:latin typeface="Georgia"/>
                <a:ea typeface="Georgia"/>
                <a:cs typeface="Georgia"/>
                <a:sym typeface="Georgia"/>
              </a:rPr>
              <a:t>.LSTM using GloVe embeddings (deep learning approach).</a:t>
            </a:r>
            <a:endParaRPr>
              <a:latin typeface="Georgia"/>
              <a:ea typeface="Georgia"/>
              <a:cs typeface="Georgia"/>
              <a:sym typeface="Georgia"/>
            </a:endParaRPr>
          </a:p>
          <a:p>
            <a:pPr indent="-393065" lvl="0" marL="457200" rtl="0" algn="l">
              <a:spcBef>
                <a:spcPts val="1000"/>
              </a:spcBef>
              <a:spcAft>
                <a:spcPts val="0"/>
              </a:spcAft>
              <a:buSzPct val="100000"/>
              <a:buFont typeface="Georgia"/>
              <a:buAutoNum type="arabicPeriod"/>
            </a:pPr>
            <a:r>
              <a:rPr lang="en-US">
                <a:latin typeface="Georgia"/>
                <a:ea typeface="Georgia"/>
                <a:cs typeface="Georgia"/>
                <a:sym typeface="Georgia"/>
              </a:rPr>
              <a:t>To evaluate both models using accuracy, precision, </a:t>
            </a:r>
            <a:endParaRPr>
              <a:latin typeface="Georgia"/>
              <a:ea typeface="Georgia"/>
              <a:cs typeface="Georgia"/>
              <a:sym typeface="Georgia"/>
            </a:endParaRPr>
          </a:p>
          <a:p>
            <a:pPr indent="0" lvl="0" marL="457200" rtl="0" algn="l">
              <a:spcBef>
                <a:spcPts val="1000"/>
              </a:spcBef>
              <a:spcAft>
                <a:spcPts val="0"/>
              </a:spcAft>
              <a:buNone/>
            </a:pPr>
            <a:r>
              <a:rPr lang="en-US">
                <a:latin typeface="Georgia"/>
                <a:ea typeface="Georgia"/>
                <a:cs typeface="Georgia"/>
                <a:sym typeface="Georgia"/>
              </a:rPr>
              <a:t>recall, and F1-score. </a:t>
            </a:r>
            <a:endParaRPr>
              <a:latin typeface="Georgia"/>
              <a:ea typeface="Georgia"/>
              <a:cs typeface="Georgia"/>
              <a:sym typeface="Georgia"/>
            </a:endParaRPr>
          </a:p>
          <a:p>
            <a:pPr indent="-393065" lvl="0" marL="457200" rtl="0" algn="l">
              <a:spcBef>
                <a:spcPts val="1000"/>
              </a:spcBef>
              <a:spcAft>
                <a:spcPts val="0"/>
              </a:spcAft>
              <a:buSzPct val="100000"/>
              <a:buFont typeface="Georgia"/>
              <a:buAutoNum type="arabicPeriod"/>
            </a:pPr>
            <a:r>
              <a:rPr lang="en-US">
                <a:latin typeface="Georgia"/>
                <a:ea typeface="Georgia"/>
                <a:cs typeface="Georgia"/>
                <a:sym typeface="Georgia"/>
              </a:rPr>
              <a:t>To visualize model results using confusion matrices and word clouds. </a:t>
            </a:r>
            <a:endParaRPr>
              <a:latin typeface="Georgia"/>
              <a:ea typeface="Georgia"/>
              <a:cs typeface="Georgia"/>
              <a:sym typeface="Georgia"/>
            </a:endParaRPr>
          </a:p>
          <a:p>
            <a:pPr indent="-393065" lvl="0" marL="457200" rtl="0" algn="l">
              <a:spcBef>
                <a:spcPts val="0"/>
              </a:spcBef>
              <a:spcAft>
                <a:spcPts val="0"/>
              </a:spcAft>
              <a:buSzPct val="100000"/>
              <a:buFont typeface="Georgia"/>
              <a:buAutoNum type="arabicPeriod"/>
            </a:pPr>
            <a:r>
              <a:rPr lang="en-US">
                <a:latin typeface="Georgia"/>
                <a:ea typeface="Georgia"/>
                <a:cs typeface="Georgia"/>
                <a:sym typeface="Georgia"/>
              </a:rPr>
              <a:t>To determine which model performs better and</a:t>
            </a:r>
            <a:endParaRPr>
              <a:latin typeface="Georgia"/>
              <a:ea typeface="Georgia"/>
              <a:cs typeface="Georgia"/>
              <a:sym typeface="Georgia"/>
            </a:endParaRPr>
          </a:p>
          <a:p>
            <a:pPr indent="0" lvl="0" marL="457200" rtl="0" algn="l">
              <a:spcBef>
                <a:spcPts val="1000"/>
              </a:spcBef>
              <a:spcAft>
                <a:spcPts val="0"/>
              </a:spcAft>
              <a:buNone/>
            </a:pPr>
            <a:r>
              <a:rPr lang="en-US">
                <a:latin typeface="Georgia"/>
                <a:ea typeface="Georgia"/>
                <a:cs typeface="Georgia"/>
                <a:sym typeface="Georgia"/>
              </a:rPr>
              <a:t> provide </a:t>
            </a:r>
            <a:r>
              <a:rPr lang="en-US">
                <a:latin typeface="Georgia"/>
                <a:ea typeface="Georgia"/>
                <a:cs typeface="Georgia"/>
                <a:sym typeface="Georgia"/>
              </a:rPr>
              <a:t>recommendations</a:t>
            </a:r>
            <a:r>
              <a:rPr lang="en-US">
                <a:latin typeface="Georgia"/>
                <a:ea typeface="Georgia"/>
                <a:cs typeface="Georgia"/>
                <a:sym typeface="Georgia"/>
              </a:rPr>
              <a:t>. </a:t>
            </a:r>
            <a:endParaRPr>
              <a:latin typeface="Georgia"/>
              <a:ea typeface="Georgia"/>
              <a:cs typeface="Georgia"/>
              <a:sym typeface="Georgia"/>
            </a:endParaRPr>
          </a:p>
        </p:txBody>
      </p:sp>
      <p:pic>
        <p:nvPicPr>
          <p:cNvPr id="112" name="Google Shape;112;g3a02f1b9eea_0_9"/>
          <p:cNvPicPr preferRelativeResize="0"/>
          <p:nvPr/>
        </p:nvPicPr>
        <p:blipFill>
          <a:blip r:embed="rId3">
            <a:alphaModFix/>
          </a:blip>
          <a:stretch>
            <a:fillRect/>
          </a:stretch>
        </p:blipFill>
        <p:spPr>
          <a:xfrm>
            <a:off x="8657800" y="58825"/>
            <a:ext cx="3534200" cy="3760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a02f1b9eea_0_1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SCOPE OF THE PROJECT: </a:t>
            </a:r>
            <a:endParaRPr/>
          </a:p>
        </p:txBody>
      </p:sp>
      <p:sp>
        <p:nvSpPr>
          <p:cNvPr id="119" name="Google Shape;119;g3a02f1b9eea_0_17"/>
          <p:cNvSpPr txBox="1"/>
          <p:nvPr>
            <p:ph idx="1" type="body"/>
          </p:nvPr>
        </p:nvSpPr>
        <p:spPr>
          <a:xfrm>
            <a:off x="678878" y="1675075"/>
            <a:ext cx="7425900" cy="4398000"/>
          </a:xfrm>
          <a:prstGeom prst="rect">
            <a:avLst/>
          </a:prstGeom>
        </p:spPr>
        <p:txBody>
          <a:bodyPr anchorCtr="0" anchor="t" bIns="45700" lIns="91425" spcFirstLastPara="1" rIns="91425" wrap="square" tIns="45700">
            <a:normAutofit fontScale="77500" lnSpcReduction="10000"/>
          </a:bodyPr>
          <a:lstStyle/>
          <a:p>
            <a:pPr indent="0" lvl="0" marL="0" rtl="0" algn="l">
              <a:spcBef>
                <a:spcPts val="1000"/>
              </a:spcBef>
              <a:spcAft>
                <a:spcPts val="0"/>
              </a:spcAft>
              <a:buNone/>
            </a:pPr>
            <a:r>
              <a:rPr lang="en-US">
                <a:latin typeface="Georgia"/>
                <a:ea typeface="Georgia"/>
                <a:cs typeface="Georgia"/>
                <a:sym typeface="Georgia"/>
              </a:rPr>
              <a:t>. The project uses 5-7 main categories of news, e.g.: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(Politics, Sports, Tech, Business, Entertainment,</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Science, World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News).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Models used: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(Classical ML: TF-IDF + Logistics Regression).</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(Deep Learning: LSTM with pre-trained GloVe word</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embeddings)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.Evaluation metrics: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 Accuracy, </a:t>
            </a:r>
            <a:r>
              <a:rPr lang="en-US">
                <a:latin typeface="Georgia"/>
                <a:ea typeface="Georgia"/>
                <a:cs typeface="Georgia"/>
                <a:sym typeface="Georgia"/>
              </a:rPr>
              <a:t>precision, Recall, F1-Score, Confusion Matrix). </a:t>
            </a:r>
            <a:r>
              <a:rPr lang="en-US">
                <a:latin typeface="Georgia"/>
                <a:ea typeface="Georgia"/>
                <a:cs typeface="Georgia"/>
                <a:sym typeface="Georgia"/>
              </a:rPr>
              <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Lobster"/>
              <a:ea typeface="Lobster"/>
              <a:cs typeface="Lobster"/>
              <a:sym typeface="Lobster"/>
            </a:endParaRPr>
          </a:p>
        </p:txBody>
      </p:sp>
      <p:pic>
        <p:nvPicPr>
          <p:cNvPr id="120" name="Google Shape;120;g3a02f1b9eea_0_17"/>
          <p:cNvPicPr preferRelativeResize="0"/>
          <p:nvPr/>
        </p:nvPicPr>
        <p:blipFill>
          <a:blip r:embed="rId3">
            <a:alphaModFix/>
          </a:blip>
          <a:stretch>
            <a:fillRect/>
          </a:stretch>
        </p:blipFill>
        <p:spPr>
          <a:xfrm>
            <a:off x="7305000" y="1216575"/>
            <a:ext cx="4887001" cy="35240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a02f1b9eea_0_24"/>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DATASET: </a:t>
            </a:r>
            <a:endParaRPr/>
          </a:p>
        </p:txBody>
      </p:sp>
      <p:sp>
        <p:nvSpPr>
          <p:cNvPr id="127" name="Google Shape;127;g3a02f1b9eea_0_24"/>
          <p:cNvSpPr txBox="1"/>
          <p:nvPr>
            <p:ph idx="1" type="body"/>
          </p:nvPr>
        </p:nvSpPr>
        <p:spPr>
          <a:xfrm>
            <a:off x="678877" y="1675075"/>
            <a:ext cx="8472900" cy="4398000"/>
          </a:xfrm>
          <a:prstGeom prst="rect">
            <a:avLst/>
          </a:prstGeom>
        </p:spPr>
        <p:txBody>
          <a:bodyPr anchorCtr="0" anchor="t" bIns="45700" lIns="91425" spcFirstLastPara="1" rIns="91425" wrap="square" tIns="45700">
            <a:normAutofit fontScale="85000" lnSpcReduction="20000"/>
          </a:bodyPr>
          <a:lstStyle/>
          <a:p>
            <a:pPr indent="0" lvl="0" marL="0" rtl="0" algn="l">
              <a:spcBef>
                <a:spcPts val="1000"/>
              </a:spcBef>
              <a:spcAft>
                <a:spcPts val="0"/>
              </a:spcAft>
              <a:buNone/>
            </a:pPr>
            <a:r>
              <a:rPr lang="en-US">
                <a:latin typeface="Georgia"/>
                <a:ea typeface="Georgia"/>
                <a:cs typeface="Georgia"/>
                <a:sym typeface="Georgia"/>
              </a:rPr>
              <a:t>. Dataset Name: News Category Dataset (HuffPost).</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Sources: data.world / kaggle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Description: </a:t>
            </a:r>
            <a:r>
              <a:rPr lang="en-US">
                <a:latin typeface="Georgia"/>
                <a:ea typeface="Georgia"/>
                <a:cs typeface="Georgia"/>
                <a:sym typeface="Georgia"/>
              </a:rPr>
              <a:t>Contains</a:t>
            </a:r>
            <a:r>
              <a:rPr lang="en-US">
                <a:latin typeface="Georgia"/>
                <a:ea typeface="Georgia"/>
                <a:cs typeface="Georgia"/>
                <a:sym typeface="Georgia"/>
              </a:rPr>
              <a:t> thousands of headlines from</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the HuffPost news site, each tagged by section or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category.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 SAMPLE FEATURES: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.headline: The headline text of the article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 category: The section label, e.g., ‘POLITICS’,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‘SPORTS’.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After filtering, the project uses 5-7 key categories.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t>
            </a:r>
            <a:endParaRPr>
              <a:latin typeface="Georgia"/>
              <a:ea typeface="Georgia"/>
              <a:cs typeface="Georgia"/>
              <a:sym typeface="Georgia"/>
            </a:endParaRPr>
          </a:p>
        </p:txBody>
      </p:sp>
      <p:pic>
        <p:nvPicPr>
          <p:cNvPr id="128" name="Google Shape;128;g3a02f1b9eea_0_24"/>
          <p:cNvPicPr preferRelativeResize="0"/>
          <p:nvPr/>
        </p:nvPicPr>
        <p:blipFill>
          <a:blip r:embed="rId3">
            <a:alphaModFix/>
          </a:blip>
          <a:stretch>
            <a:fillRect/>
          </a:stretch>
        </p:blipFill>
        <p:spPr>
          <a:xfrm>
            <a:off x="7575550" y="2882000"/>
            <a:ext cx="4616450" cy="3191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a02f1b9eea_0_31"/>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METHODOLOGY: </a:t>
            </a:r>
            <a:endParaRPr/>
          </a:p>
        </p:txBody>
      </p:sp>
      <p:sp>
        <p:nvSpPr>
          <p:cNvPr id="135" name="Google Shape;135;g3a02f1b9eea_0_31"/>
          <p:cNvSpPr txBox="1"/>
          <p:nvPr>
            <p:ph idx="1" type="body"/>
          </p:nvPr>
        </p:nvSpPr>
        <p:spPr>
          <a:xfrm>
            <a:off x="678884" y="162802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STEP 1:DATA PREPROCESSING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To prepare data for modeling: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Convert text to lowercase</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Remove punctuation and special symbols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Tokenize sentences into words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Remove stopwords (common word like the, is, and)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Apply Label Encoding to convert category names into numeric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form </a:t>
            </a:r>
            <a:endParaRPr>
              <a:latin typeface="Georgia"/>
              <a:ea typeface="Georgia"/>
              <a:cs typeface="Georgia"/>
              <a:sym typeface="Georgia"/>
            </a:endParaRPr>
          </a:p>
        </p:txBody>
      </p:sp>
      <p:pic>
        <p:nvPicPr>
          <p:cNvPr id="136" name="Google Shape;136;g3a02f1b9eea_0_31"/>
          <p:cNvPicPr preferRelativeResize="0"/>
          <p:nvPr/>
        </p:nvPicPr>
        <p:blipFill>
          <a:blip r:embed="rId3">
            <a:alphaModFix/>
          </a:blip>
          <a:stretch>
            <a:fillRect/>
          </a:stretch>
        </p:blipFill>
        <p:spPr>
          <a:xfrm>
            <a:off x="6046325" y="1216575"/>
            <a:ext cx="6145675" cy="1983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02f1b9eea_0_3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STEP 2: DATA PREPROCESSING </a:t>
            </a:r>
            <a:endParaRPr/>
          </a:p>
        </p:txBody>
      </p:sp>
      <p:sp>
        <p:nvSpPr>
          <p:cNvPr id="143" name="Google Shape;143;g3a02f1b9eea_0_37"/>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Model 1–TF-IDF + Logistics Regression</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TF-IDF (Term Frequency-inverse Document Frequency) concerts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text into numerical features based on word importance.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Logistic Regression is used as the classifier because it perform well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on high-dimensional text data.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This model captures word-level </a:t>
            </a:r>
            <a:r>
              <a:rPr lang="en-US">
                <a:latin typeface="Georgia"/>
                <a:ea typeface="Georgia"/>
                <a:cs typeface="Georgia"/>
                <a:sym typeface="Georgia"/>
              </a:rPr>
              <a:t>importance</a:t>
            </a:r>
            <a:r>
              <a:rPr lang="en-US">
                <a:latin typeface="Georgia"/>
                <a:ea typeface="Georgia"/>
                <a:cs typeface="Georgia"/>
                <a:sym typeface="Georgia"/>
              </a:rPr>
              <a:t> but not word </a:t>
            </a:r>
            <a:r>
              <a:rPr lang="en-US">
                <a:latin typeface="Georgia"/>
                <a:ea typeface="Georgia"/>
                <a:cs typeface="Georgia"/>
                <a:sym typeface="Georgia"/>
              </a:rPr>
              <a:t>order. </a:t>
            </a:r>
            <a:r>
              <a:rPr lang="en-US">
                <a:latin typeface="Georgia"/>
                <a:ea typeface="Georgia"/>
                <a:cs typeface="Georgia"/>
                <a:sym typeface="Georgia"/>
              </a:rPr>
              <a:t> </a:t>
            </a:r>
            <a:endParaRPr>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a02f1b9eea_0_44"/>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STEP 3: DATA PREPROCESSING </a:t>
            </a:r>
            <a:endParaRPr/>
          </a:p>
        </p:txBody>
      </p:sp>
      <p:sp>
        <p:nvSpPr>
          <p:cNvPr id="150" name="Google Shape;150;g3a02f1b9eea_0_44"/>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latin typeface="Georgia"/>
                <a:ea typeface="Georgia"/>
                <a:cs typeface="Georgia"/>
                <a:sym typeface="Georgia"/>
              </a:rPr>
              <a:t>Model 2– LSTM with GLoVe Embeddings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 LSTM (Long Short-Term Memory) is a type of Recurrent Neural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Network(RNN) suitable for sequential data like text.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GloVe (Global Vectors for Word Representation) provides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pre-trained word embeddings that captures semantic meaning.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Each headline is converted to a sequence of numbers (word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indexes) and padded to a fixed length.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The LSTM </a:t>
            </a:r>
            <a:r>
              <a:rPr lang="en-US">
                <a:latin typeface="Georgia"/>
                <a:ea typeface="Georgia"/>
                <a:cs typeface="Georgia"/>
                <a:sym typeface="Georgia"/>
              </a:rPr>
              <a:t>learns contextual relationships between words in a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headline </a:t>
            </a:r>
            <a:endParaRPr>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a02f1b9eea_0_50"/>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EVALUATION:</a:t>
            </a:r>
            <a:endParaRPr/>
          </a:p>
        </p:txBody>
      </p:sp>
      <p:sp>
        <p:nvSpPr>
          <p:cNvPr id="157" name="Google Shape;157;g3a02f1b9eea_0_50"/>
          <p:cNvSpPr txBox="1"/>
          <p:nvPr>
            <p:ph idx="1" type="body"/>
          </p:nvPr>
        </p:nvSpPr>
        <p:spPr>
          <a:xfrm>
            <a:off x="678875" y="2176200"/>
            <a:ext cx="9425700" cy="38970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latin typeface="Georgia"/>
                <a:ea typeface="Georgia"/>
                <a:cs typeface="Georgia"/>
                <a:sym typeface="Georgia"/>
              </a:rPr>
              <a:t>Both models are compared using: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Accuracy: Overall percentage of correctly classified</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headlines.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.Precision: Correct predictions among predicted positives.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.Recall: Correct predictions among actual positives.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.F1-Score: Harmonic mean of precision and recall.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.Confusion Matrix: Visual comparison between actual and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predicted labels. </a:t>
            </a:r>
            <a:endParaRPr>
              <a:latin typeface="Georgia"/>
              <a:ea typeface="Georgia"/>
              <a:cs typeface="Georgia"/>
              <a:sym typeface="Georgia"/>
            </a:endParaRPr>
          </a:p>
        </p:txBody>
      </p:sp>
      <p:pic>
        <p:nvPicPr>
          <p:cNvPr id="158" name="Google Shape;158;g3a02f1b9eea_0_50"/>
          <p:cNvPicPr preferRelativeResize="0"/>
          <p:nvPr/>
        </p:nvPicPr>
        <p:blipFill>
          <a:blip r:embed="rId3">
            <a:alphaModFix/>
          </a:blip>
          <a:stretch>
            <a:fillRect/>
          </a:stretch>
        </p:blipFill>
        <p:spPr>
          <a:xfrm>
            <a:off x="4545425" y="0"/>
            <a:ext cx="7646575" cy="217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a02f1b9eea_0_57"/>
          <p:cNvSpPr txBox="1"/>
          <p:nvPr>
            <p:ph type="title"/>
          </p:nvPr>
        </p:nvSpPr>
        <p:spPr>
          <a:xfrm>
            <a:off x="678875" y="658750"/>
            <a:ext cx="10834200" cy="5763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sz="3300"/>
              <a:t>VISUALIZATION: </a:t>
            </a:r>
            <a:endParaRPr sz="3300"/>
          </a:p>
        </p:txBody>
      </p:sp>
      <p:sp>
        <p:nvSpPr>
          <p:cNvPr id="165" name="Google Shape;165;g3a02f1b9eea_0_57"/>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.Word Cloud: </a:t>
            </a:r>
            <a:r>
              <a:rPr lang="en-US" sz="2300">
                <a:latin typeface="Georgia"/>
                <a:ea typeface="Georgia"/>
                <a:cs typeface="Georgia"/>
                <a:sym typeface="Georgia"/>
              </a:rPr>
              <a:t>Displays the most frequent words per category.</a:t>
            </a:r>
            <a:endParaRPr sz="2300">
              <a:latin typeface="Georgia"/>
              <a:ea typeface="Georgia"/>
              <a:cs typeface="Georgia"/>
              <a:sym typeface="Georgia"/>
            </a:endParaRPr>
          </a:p>
          <a:p>
            <a:pPr indent="0" lvl="0" marL="0" rtl="0" algn="l">
              <a:spcBef>
                <a:spcPts val="1000"/>
              </a:spcBef>
              <a:spcAft>
                <a:spcPts val="0"/>
              </a:spcAft>
              <a:buNone/>
            </a:pPr>
            <a:r>
              <a:rPr lang="en-US" sz="2900">
                <a:latin typeface="Georgia"/>
                <a:ea typeface="Georgia"/>
                <a:cs typeface="Georgia"/>
                <a:sym typeface="Georgia"/>
              </a:rPr>
              <a:t>. Accuracy Plot: </a:t>
            </a:r>
            <a:r>
              <a:rPr lang="en-US" sz="2300">
                <a:latin typeface="Georgia"/>
                <a:ea typeface="Georgia"/>
                <a:cs typeface="Georgia"/>
                <a:sym typeface="Georgia"/>
              </a:rPr>
              <a:t>Compares performance of Logistic Regression</a:t>
            </a:r>
            <a:endParaRPr sz="2300">
              <a:latin typeface="Georgia"/>
              <a:ea typeface="Georgia"/>
              <a:cs typeface="Georgia"/>
              <a:sym typeface="Georgia"/>
            </a:endParaRPr>
          </a:p>
          <a:p>
            <a:pPr indent="0" lvl="0" marL="0" rtl="0" algn="l">
              <a:spcBef>
                <a:spcPts val="1000"/>
              </a:spcBef>
              <a:spcAft>
                <a:spcPts val="0"/>
              </a:spcAft>
              <a:buNone/>
            </a:pPr>
            <a:r>
              <a:rPr lang="en-US" sz="2300">
                <a:latin typeface="Georgia"/>
                <a:ea typeface="Georgia"/>
                <a:cs typeface="Georgia"/>
                <a:sym typeface="Georgia"/>
              </a:rPr>
              <a:t>  and LSTM models. </a:t>
            </a:r>
            <a:endParaRPr sz="2300">
              <a:latin typeface="Georgia"/>
              <a:ea typeface="Georgia"/>
              <a:cs typeface="Georgia"/>
              <a:sym typeface="Georgia"/>
            </a:endParaRPr>
          </a:p>
        </p:txBody>
      </p:sp>
      <p:pic>
        <p:nvPicPr>
          <p:cNvPr id="166" name="Google Shape;166;g3a02f1b9eea_0_57"/>
          <p:cNvPicPr preferRelativeResize="0"/>
          <p:nvPr/>
        </p:nvPicPr>
        <p:blipFill>
          <a:blip r:embed="rId3">
            <a:alphaModFix/>
          </a:blip>
          <a:stretch>
            <a:fillRect/>
          </a:stretch>
        </p:blipFill>
        <p:spPr>
          <a:xfrm>
            <a:off x="4095750" y="2670275"/>
            <a:ext cx="8096250" cy="3402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a02f1b9eea_0_64"/>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TOOLS &amp; TECHNOLOGIES: </a:t>
            </a:r>
            <a:endParaRPr/>
          </a:p>
        </p:txBody>
      </p:sp>
      <p:sp>
        <p:nvSpPr>
          <p:cNvPr id="173" name="Google Shape;173;g3a02f1b9eea_0_64"/>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CATEGORY                                        TOOLS/LIBRARY</a:t>
            </a:r>
            <a:endParaRPr>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Programing Language                                                </a:t>
            </a:r>
            <a:r>
              <a:rPr lang="en-US" sz="2000">
                <a:latin typeface="Georgia"/>
                <a:ea typeface="Georgia"/>
                <a:cs typeface="Georgia"/>
                <a:sym typeface="Georgia"/>
              </a:rPr>
              <a:t>python </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Libraries                                                                        scikit-learn, NLTK/spaCy,TensorFlow/Keras</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Visualization                                                                 Matplotlib, Seaborn, WordCloud</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Environment                                                                 Jupyter Notebook </a:t>
            </a:r>
            <a:endParaRPr sz="2000">
              <a:latin typeface="Georgia"/>
              <a:ea typeface="Georgia"/>
              <a:cs typeface="Georgia"/>
              <a:sym typeface="Georgia"/>
            </a:endParaRPr>
          </a:p>
          <a:p>
            <a:pPr indent="0" lvl="0" marL="0" rtl="0" algn="l">
              <a:spcBef>
                <a:spcPts val="1000"/>
              </a:spcBef>
              <a:spcAft>
                <a:spcPts val="0"/>
              </a:spcAft>
              <a:buNone/>
            </a:pPr>
            <a:r>
              <a:rPr lang="en-US" sz="2000">
                <a:latin typeface="Georgia"/>
                <a:ea typeface="Georgia"/>
                <a:cs typeface="Georgia"/>
                <a:sym typeface="Georgia"/>
              </a:rPr>
              <a:t>Data Source                                                                   data.world/ Kaggle</a:t>
            </a:r>
            <a:endParaRPr sz="2000">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a02f1b9eea_0_70"/>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RESULTS &amp; DISCUSSION: </a:t>
            </a:r>
            <a:endParaRPr/>
          </a:p>
        </p:txBody>
      </p:sp>
      <p:sp>
        <p:nvSpPr>
          <p:cNvPr id="180" name="Google Shape;180;g3a02f1b9eea_0_70"/>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 TF-IDF+ Logistic Regression: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 </a:t>
            </a:r>
            <a:r>
              <a:rPr lang="en-US" sz="2200">
                <a:latin typeface="Georgia"/>
                <a:ea typeface="Georgia"/>
                <a:cs typeface="Georgia"/>
                <a:sym typeface="Georgia"/>
              </a:rPr>
              <a:t>Simple and efficient for short text </a:t>
            </a:r>
            <a:endParaRPr sz="2200">
              <a:latin typeface="Georgia"/>
              <a:ea typeface="Georgia"/>
              <a:cs typeface="Georgia"/>
              <a:sym typeface="Georgia"/>
            </a:endParaRPr>
          </a:p>
          <a:p>
            <a:pPr indent="0" lvl="0" marL="0" rtl="0" algn="l">
              <a:spcBef>
                <a:spcPts val="1000"/>
              </a:spcBef>
              <a:spcAft>
                <a:spcPts val="0"/>
              </a:spcAft>
              <a:buNone/>
            </a:pPr>
            <a:r>
              <a:rPr lang="en-US" sz="2200">
                <a:latin typeface="Georgia"/>
                <a:ea typeface="Georgia"/>
                <a:cs typeface="Georgia"/>
                <a:sym typeface="Georgia"/>
              </a:rPr>
              <a:t>      (headlines).</a:t>
            </a:r>
            <a:endParaRPr sz="2200">
              <a:latin typeface="Georgia"/>
              <a:ea typeface="Georgia"/>
              <a:cs typeface="Georgia"/>
              <a:sym typeface="Georgia"/>
            </a:endParaRPr>
          </a:p>
          <a:p>
            <a:pPr indent="0" lvl="0" marL="0" rtl="0" algn="l">
              <a:spcBef>
                <a:spcPts val="1000"/>
              </a:spcBef>
              <a:spcAft>
                <a:spcPts val="0"/>
              </a:spcAft>
              <a:buNone/>
            </a:pPr>
            <a:r>
              <a:rPr lang="en-US" sz="2200">
                <a:latin typeface="Georgia"/>
                <a:ea typeface="Georgia"/>
                <a:cs typeface="Georgia"/>
                <a:sym typeface="Georgia"/>
              </a:rPr>
              <a:t>   . Achieved around 80-85% accuracy depending on dataset balance.</a:t>
            </a:r>
            <a:endParaRPr sz="2200">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LSTM + GloVe: </a:t>
            </a:r>
            <a:endParaRPr>
              <a:latin typeface="Georgia"/>
              <a:ea typeface="Georgia"/>
              <a:cs typeface="Georgia"/>
              <a:sym typeface="Georgia"/>
            </a:endParaRPr>
          </a:p>
          <a:p>
            <a:pPr indent="0" lvl="0" marL="0" rtl="0" algn="l">
              <a:spcBef>
                <a:spcPts val="1000"/>
              </a:spcBef>
              <a:spcAft>
                <a:spcPts val="0"/>
              </a:spcAft>
              <a:buNone/>
            </a:pPr>
            <a:r>
              <a:rPr lang="en-US" sz="2200">
                <a:latin typeface="Georgia"/>
                <a:ea typeface="Georgia"/>
                <a:cs typeface="Georgia"/>
                <a:sym typeface="Georgia"/>
              </a:rPr>
              <a:t>   . Captured context and word order. </a:t>
            </a:r>
            <a:endParaRPr sz="2200">
              <a:latin typeface="Georgia"/>
              <a:ea typeface="Georgia"/>
              <a:cs typeface="Georgia"/>
              <a:sym typeface="Georgia"/>
            </a:endParaRPr>
          </a:p>
          <a:p>
            <a:pPr indent="0" lvl="0" marL="0" rtl="0" algn="l">
              <a:spcBef>
                <a:spcPts val="1000"/>
              </a:spcBef>
              <a:spcAft>
                <a:spcPts val="0"/>
              </a:spcAft>
              <a:buNone/>
            </a:pPr>
            <a:r>
              <a:rPr lang="en-US" sz="2200">
                <a:latin typeface="Georgia"/>
                <a:ea typeface="Georgia"/>
                <a:cs typeface="Georgia"/>
                <a:sym typeface="Georgia"/>
              </a:rPr>
              <a:t>   . slightly higher accuracy (~85-88%) but required more computation time. </a:t>
            </a:r>
            <a:endParaRPr sz="2200">
              <a:latin typeface="Georgia"/>
              <a:ea typeface="Georgia"/>
              <a:cs typeface="Georgia"/>
              <a:sym typeface="Georgia"/>
            </a:endParaRPr>
          </a:p>
          <a:p>
            <a:pPr indent="0" lvl="0" marL="0" rtl="0" algn="l">
              <a:spcBef>
                <a:spcPts val="1000"/>
              </a:spcBef>
              <a:spcAft>
                <a:spcPts val="0"/>
              </a:spcAft>
              <a:buNone/>
            </a:pPr>
            <a:r>
              <a:t/>
            </a:r>
            <a:endParaRPr>
              <a:latin typeface="Georgia"/>
              <a:ea typeface="Georgia"/>
              <a:cs typeface="Georgia"/>
              <a:sym typeface="Georgia"/>
            </a:endParaRPr>
          </a:p>
        </p:txBody>
      </p:sp>
      <p:pic>
        <p:nvPicPr>
          <p:cNvPr id="181" name="Google Shape;181;g3a02f1b9eea_0_70"/>
          <p:cNvPicPr preferRelativeResize="0"/>
          <p:nvPr/>
        </p:nvPicPr>
        <p:blipFill>
          <a:blip r:embed="rId3">
            <a:alphaModFix/>
          </a:blip>
          <a:stretch>
            <a:fillRect/>
          </a:stretch>
        </p:blipFill>
        <p:spPr>
          <a:xfrm>
            <a:off x="5658150" y="0"/>
            <a:ext cx="6533852" cy="31643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a02f1b9eea_0_7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OBSERVATION: </a:t>
            </a:r>
            <a:endParaRPr/>
          </a:p>
        </p:txBody>
      </p:sp>
      <p:sp>
        <p:nvSpPr>
          <p:cNvPr id="188" name="Google Shape;188;g3a02f1b9eea_0_77"/>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 LSTM performs better when there are enough examples per class.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Logistic Regression is faster and interpretable, ideal for smaller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projects. </a:t>
            </a:r>
            <a:endParaRPr>
              <a:latin typeface="Georgia"/>
              <a:ea typeface="Georgia"/>
              <a:cs typeface="Georgia"/>
              <a:sym typeface="Georgia"/>
            </a:endParaRPr>
          </a:p>
        </p:txBody>
      </p:sp>
      <p:pic>
        <p:nvPicPr>
          <p:cNvPr id="189" name="Google Shape;189;g3a02f1b9eea_0_77"/>
          <p:cNvPicPr preferRelativeResize="0"/>
          <p:nvPr/>
        </p:nvPicPr>
        <p:blipFill>
          <a:blip r:embed="rId3">
            <a:alphaModFix/>
          </a:blip>
          <a:stretch>
            <a:fillRect/>
          </a:stretch>
        </p:blipFill>
        <p:spPr>
          <a:xfrm>
            <a:off x="3329000" y="2634975"/>
            <a:ext cx="8863002" cy="34380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a02f1b9eea_0_84"/>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CONCLUSION: </a:t>
            </a:r>
            <a:endParaRPr/>
          </a:p>
        </p:txBody>
      </p:sp>
      <p:sp>
        <p:nvSpPr>
          <p:cNvPr id="196" name="Google Shape;196;g3a02f1b9eea_0_84"/>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This project </a:t>
            </a:r>
            <a:r>
              <a:rPr lang="en-US">
                <a:latin typeface="Georgia"/>
                <a:ea typeface="Georgia"/>
                <a:cs typeface="Georgia"/>
                <a:sym typeface="Georgia"/>
              </a:rPr>
              <a:t>successfully</a:t>
            </a:r>
            <a:r>
              <a:rPr lang="en-US">
                <a:latin typeface="Georgia"/>
                <a:ea typeface="Georgia"/>
                <a:cs typeface="Georgia"/>
                <a:sym typeface="Georgia"/>
              </a:rPr>
              <a:t> demonstrates text classification on news headlines using both </a:t>
            </a:r>
            <a:r>
              <a:rPr lang="en-US">
                <a:latin typeface="Georgia"/>
                <a:ea typeface="Georgia"/>
                <a:cs typeface="Georgia"/>
                <a:sym typeface="Georgia"/>
              </a:rPr>
              <a:t>classical</a:t>
            </a:r>
            <a:r>
              <a:rPr lang="en-US">
                <a:latin typeface="Georgia"/>
                <a:ea typeface="Georgia"/>
                <a:cs typeface="Georgia"/>
                <a:sym typeface="Georgia"/>
              </a:rPr>
              <a:t> and deep learning approaches. </a:t>
            </a:r>
            <a:endParaRPr>
              <a:latin typeface="Georgia"/>
              <a:ea typeface="Georgia"/>
              <a:cs typeface="Georgia"/>
              <a:sym typeface="Georgia"/>
            </a:endParaRPr>
          </a:p>
          <a:p>
            <a:pPr indent="0" lvl="0" marL="0" rtl="0" algn="l">
              <a:spcBef>
                <a:spcPts val="1000"/>
              </a:spcBef>
              <a:spcAft>
                <a:spcPts val="0"/>
              </a:spcAft>
              <a:buNone/>
            </a:pPr>
            <a:r>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THE RESULTS SHOWS THAT: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.Logistics Regression provides a strong baseline with TF-IDF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 features.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.LSTM improves classification slightly by understanding context. </a:t>
            </a:r>
            <a:endParaRPr>
              <a:latin typeface="Georgia"/>
              <a:ea typeface="Georgia"/>
              <a:cs typeface="Georgia"/>
              <a:sym typeface="Georgia"/>
            </a:endParaRPr>
          </a:p>
          <a:p>
            <a:pPr indent="0" lvl="0" marL="0" rtl="0" algn="l">
              <a:spcBef>
                <a:spcPts val="1000"/>
              </a:spcBef>
              <a:spcAft>
                <a:spcPts val="0"/>
              </a:spcAft>
              <a:buNone/>
            </a:pPr>
            <a:r>
              <a:t/>
            </a:r>
            <a:endParaRPr>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a02f1b9eea_0_90"/>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FINAL RECOMMENDATION:  </a:t>
            </a:r>
            <a:endParaRPr/>
          </a:p>
        </p:txBody>
      </p:sp>
      <p:sp>
        <p:nvSpPr>
          <p:cNvPr id="203" name="Google Shape;203;g3a02f1b9eea_0_90"/>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latin typeface="Georgia"/>
                <a:ea typeface="Georgia"/>
                <a:cs typeface="Georgia"/>
                <a:sym typeface="Georgia"/>
              </a:rPr>
              <a:t>Use TF-IDF+ Logistic Regression for efficiency, and LSTM </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(or transformer models like BERT) for higher accuracy in large-scale  systems. </a:t>
            </a:r>
            <a:endParaRPr>
              <a:latin typeface="Georgia"/>
              <a:ea typeface="Georgia"/>
              <a:cs typeface="Georgia"/>
              <a:sym typeface="Georgia"/>
            </a:endParaRPr>
          </a:p>
        </p:txBody>
      </p:sp>
      <p:pic>
        <p:nvPicPr>
          <p:cNvPr id="204" name="Google Shape;204;g3a02f1b9eea_0_90"/>
          <p:cNvPicPr preferRelativeResize="0"/>
          <p:nvPr/>
        </p:nvPicPr>
        <p:blipFill>
          <a:blip r:embed="rId3">
            <a:alphaModFix/>
          </a:blip>
          <a:stretch>
            <a:fillRect/>
          </a:stretch>
        </p:blipFill>
        <p:spPr>
          <a:xfrm>
            <a:off x="3070225" y="3058450"/>
            <a:ext cx="9121774" cy="3014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02f1b9eea_0_97"/>
          <p:cNvSpPr txBox="1"/>
          <p:nvPr>
            <p:ph type="title"/>
          </p:nvPr>
        </p:nvSpPr>
        <p:spPr>
          <a:xfrm>
            <a:off x="678884" y="603666"/>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FUTURE SCOPE: </a:t>
            </a:r>
            <a:endParaRPr/>
          </a:p>
        </p:txBody>
      </p:sp>
      <p:sp>
        <p:nvSpPr>
          <p:cNvPr id="211" name="Google Shape;211;g3a02f1b9eea_0_97"/>
          <p:cNvSpPr txBox="1"/>
          <p:nvPr>
            <p:ph idx="1" type="body"/>
          </p:nvPr>
        </p:nvSpPr>
        <p:spPr>
          <a:xfrm>
            <a:off x="678884" y="1675075"/>
            <a:ext cx="10834200" cy="43980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Georgia"/>
              <a:buAutoNum type="arabicPeriod"/>
            </a:pPr>
            <a:r>
              <a:rPr lang="en-US">
                <a:latin typeface="Georgia"/>
                <a:ea typeface="Georgia"/>
                <a:cs typeface="Georgia"/>
                <a:sym typeface="Georgia"/>
              </a:rPr>
              <a:t>Use transformer-based models (e.g.,BERT, DistilBERT) for better contextual understanding</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2. Extend the dataset with full article text instead of only headlines.</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3. Deploy as a web or API-based news classifier tool.</a:t>
            </a:r>
            <a:endParaRPr>
              <a:latin typeface="Georgia"/>
              <a:ea typeface="Georgia"/>
              <a:cs typeface="Georgia"/>
              <a:sym typeface="Georgia"/>
            </a:endParaRPr>
          </a:p>
          <a:p>
            <a:pPr indent="0" lvl="0" marL="0" rtl="0" algn="l">
              <a:spcBef>
                <a:spcPts val="1000"/>
              </a:spcBef>
              <a:spcAft>
                <a:spcPts val="0"/>
              </a:spcAft>
              <a:buNone/>
            </a:pPr>
            <a:r>
              <a:rPr lang="en-US">
                <a:latin typeface="Georgia"/>
                <a:ea typeface="Georgia"/>
                <a:cs typeface="Georgia"/>
                <a:sym typeface="Georgia"/>
              </a:rPr>
              <a:t>4.Add multilingual support to classify news in different languages.</a:t>
            </a:r>
            <a:endParaRPr>
              <a:latin typeface="Georgia"/>
              <a:ea typeface="Georgia"/>
              <a:cs typeface="Georgia"/>
              <a:sym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p:nvPr/>
        </p:nvSpPr>
        <p:spPr>
          <a:xfrm>
            <a:off x="0" y="2091872"/>
            <a:ext cx="12192000" cy="176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6600">
                <a:solidFill>
                  <a:schemeClr val="lt1"/>
                </a:solidFill>
                <a:latin typeface="Calibri"/>
                <a:ea typeface="Calibri"/>
                <a:cs typeface="Calibri"/>
                <a:sym typeface="Calibri"/>
              </a:rPr>
              <a:t>Thank You!</a:t>
            </a:r>
            <a:endParaRPr b="1" sz="66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A Template">
  <a:themeElements>
    <a:clrScheme name="Custom 4">
      <a:dk1>
        <a:srgbClr val="161A3E"/>
      </a:dk1>
      <a:lt1>
        <a:srgbClr val="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2020-12-23T13:36:00Z</dcterms:created>
  <dc:creator>Aayush Shah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